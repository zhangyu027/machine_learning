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  <p:sldId id="284" r:id="rId16"/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5992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224" y="8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4308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0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1887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A3A5C"/>
                </a:solidFill>
              </a:defRPr>
            </a:pPr>
            <a:r>
              <a:t>Scientific ML Drug Discovery Platform V4.1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505A69"/>
                </a:solidFill>
              </a:defRPr>
            </a:pPr>
            <a:r>
              <a:t>Scaffold-aware ADMET benchmarking · uncertainty-aware ranking · explainability · evidence retrieval · deployable MLOps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Portfolio research prototype, not a validated clinical or regulatory system.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Current 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Reproducible benchmarks using real labeled molecular datasets.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4114800"/>
            <a:ext cx="338328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75320" y="423367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Interview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4617720"/>
            <a:ext cx="310896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Shows science, ML engineering, MLOps, and honest model governance.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Early discovery teams need faster triage without hiding scientific uncertainty.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Attrition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Promising compounds often fail because of ADMET, safety, exposure, formulation, or toxicity.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Scale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Large molecular spaces require fast computational prioritization before synthesis and testing.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Trust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Scientists need prediction, confidence, explanation, and evidence — not only a black-box score.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Decision output: advance / review / deprioritize / reject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Separate software validation from scientific validation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Make uncertainty and domain validity explicit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upgrade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moves from platform architecture to scientific benchmark readiness.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48463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05A69"/>
                </a:solidFill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484632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V2/V3 demonstrated ADMET scoring, Streamlit UX, reliability, GNN readiness, RAG, API, and MLOps patterns.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463040"/>
            <a:ext cx="5029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46520" y="158191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V4.1 now adds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965960"/>
            <a:ext cx="475488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Stable result schema, scaffold split modules, classical baselines, RDKit validity/canonicalization, and benchmark docs.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No invented metrics in README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BBBP works as first real labeled benchmark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ClinTox and Tox21 are recommended next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hERG deferred until assay curation is handled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modular workflow designed to evolve from demo to validated production models.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Data → Features → Models → Reliability → Evidence → Delivery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Seams allow proxy functions to be replaced by trained endpoint models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Fallbacks keep the project deployable when heavy scientific libraries are unavailable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Benchmark dataset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Keep demo molecules separate from labeled scientific datasets.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Keep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data/demo_smiles.csv remains an unlabeled demo file for UI and generation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data/bbbp.csv, data/clintox.csv, and data/tox21_task0.csv should be generated as benchmark files.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Do not invent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8503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Fake labels can validate execution, but cannot support scientific performance claims.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BBBP: blood-brain barrier penetration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ClinTox: clinical toxicity labels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Tox21: select one endpoint and document the task name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hERG: add later using TDC or curated ChEMBL assay 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Scientific benchmark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Scaffold-aware evaluation is the first gate against over-optimistic validation.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Load labeled CSV → validate schema → scaffold split → train baselines → evaluate metrics → write report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Baselines: descriptor logistic regression and Morgan-fingerprint random forest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Metrics: ROC-AUC, PR-AUC, F1, balanced accuracy, Brier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Molecular AI model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Classical baselines remain essential before claiming deeper models add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Descriptors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Interpretable chemical properties; useful for baseline, calibration, and stakeholder explanation.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Fingerprints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Morgan fingerprints capture substructure patterns for strong classical ML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Graphs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GNN-ready design supports atom-bond message passing when enough labeled data is available.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The right question is not “Can I use a GNN?” but “Does it beat leakage-safe baselines?”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V4.1 makes that comparison possible.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Reliability and uncertainty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Every prediction should communicate confidence, not only a number.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Applicability domain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molecule chemically similar to the training-like region?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Decision boundary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Is the probability close to a threshold where action could change?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8191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Disagreement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65960"/>
            <a:ext cx="3108960" cy="9875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 independent model views agree on risk and developability?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Outputs: confidence score · uncertainty score · reliability label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Low-confidence or out-of-domain candidates are routed to REVIEW, not automatically advanced.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Explainability and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Model outputs are paired with feature drivers and scientific context.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Feature attribution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Fallback medicinal-chemistry attribution highlights MW, LogP, TPSA, donors, acceptors, rotatable bonds, and QED balance.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50292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55080" y="1673352"/>
            <a:ext cx="47548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Literature retrieval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57400"/>
            <a:ext cx="475488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PubMed-style evidence can support review of ADMET, GNNs, uncertainty, toxicity, and mechanism 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Retrieved literature supports human review; it does not validate predictions.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Prediction, evidence, and final decision remain explicitly separate.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Deployment and MLOps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is packaged as a scientist-facing app and enterprise-ready service pattern.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Streamlit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Interactive SMILES entry, ranked candidates, reliability notes, graph summary, evidence, CSV export.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262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Health, analyze, and lookup endpoints for programmatic integration.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417320"/>
            <a:ext cx="33832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183880" y="1536192"/>
            <a:ext cx="31089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MLOps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1920240"/>
            <a:ext cx="3108960" cy="12618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Docker, CI/CD, MLflow-ready tracking, model registry, monitoring, and governance path.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A strong portfolio project shows both modeling and delivery.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V4.1 emphasizes reproducibility and honest model maturity.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Validation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Separate “the software runs” from “the model is scientifically validated.”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Software validation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Imports, unit tests, notebook, Streamlit smoke test, FastAPI health check, Docker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8056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2825F"/>
                </a:solidFill>
              </a:defRPr>
            </a:pPr>
            <a:r>
              <a:t>Model validation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Scaffold split, external datasets, calibration, confidence intervals, applicability domain.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79" y="1463040"/>
            <a:ext cx="34747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092440" y="1581912"/>
            <a:ext cx="32004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BE6E28"/>
                </a:solidFill>
              </a:defRPr>
            </a:pPr>
            <a:r>
              <a:t>Scientific 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1965960"/>
            <a:ext cx="3200400" cy="11704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Prospective experimental testing, medicinal chemistry review, assay reproducibility.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Current status: architecture and benchmark workflow ready.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Production status requires curated labels and external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GitHub publication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Push only after imports, tests, and at least one real benchmark run pass.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python -m pip install -e .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pytest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import pharma_genai and benchmark modules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run BBBP benchmark with PYTHONPATH=.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review README evidence policy and benchmark table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avoid committing virtual environments, caches, or fake benchmark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Interview talk track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A concise story for pharmaceutical data science and ML engineering roles.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106984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E4EC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490472"/>
            <a:ext cx="10424159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D69A0"/>
                </a:solidFill>
              </a:defRPr>
            </a:pPr>
            <a:r>
              <a:t>One-sentence version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0424159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05A69"/>
                </a:solidFill>
              </a:defRPr>
            </a:pPr>
            <a:r>
              <a:t>I evolved a Streamlit ADMET demo into a scientific ML drug discovery platform with scaffold-aware benchmarking, uncertainty-aware ranking, explainability, evidence retrieval, and deployable MLOps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matters: reduces early triage risk while preserving transparency.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is credible: benchmark claims must come from real labeled datasets.</a:t>
            </a:r>
          </a:p>
          <a:p>
            <a:pPr>
              <a:spcAft>
                <a:spcPts val="700"/>
              </a:spcAft>
              <a:defRPr sz="1800">
                <a:solidFill>
                  <a:srgbClr val="505A69"/>
                </a:solidFill>
              </a:defRPr>
            </a:pPr>
            <a:r>
              <a:t>Why it is transferable: same validation principles apply to clinical AI and regulated decision support.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Roadmap from portfolio to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Clear milestones turn the platform into a validated pharmaceutical AI product.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08760"/>
            <a:ext cx="10149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ClinTox and Tox21 benchmarks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ROC/PR curves and calibration plots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hERG curation from TDC or ChEMBL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Calibrated multi-task ADMET model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GNN training and comparison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SHAP / substructure explanations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MLflow registry and monitoring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Governed cloud deployment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2D6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3A5C"/>
                </a:solidFill>
              </a:defRPr>
            </a:pPr>
            <a:r>
              <a:t>V4.1 = publication-ready portfolio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85039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05A69"/>
                </a:solidFill>
              </a:defRPr>
            </a:pPr>
            <a:r>
              <a:t>The project demonstrates modeling, evaluation, system design, and responsible scientific communication.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1498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End-to-end molecular ML workflow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Scaffold-aware validation and classical baselines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Uncertainty-aware candidate prioritization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Explainability and evidence separation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Streamlit/FastAPI/MLOps delivery pattern</a:t>
            </a:r>
          </a:p>
          <a:p>
            <a:pPr>
              <a:spcAft>
                <a:spcPts val="700"/>
              </a:spcAft>
              <a:defRPr sz="1700">
                <a:solidFill>
                  <a:srgbClr val="505A69"/>
                </a:solidFill>
              </a:defRPr>
            </a:pPr>
            <a:r>
              <a:t>Honest limitations and measurable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11155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05A69"/>
                </a:solidFill>
              </a:defRPr>
            </a:pPr>
            <a:r>
              <a:t>Pharma GenAI Drug Discovery V4.1 · 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370332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32825F"/>
                </a:solidFill>
              </a:defRPr>
            </a:pPr>
            <a:r>
              <a:t>Bottom line: reproducibility + uncertainty + human review.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6492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62033"/>
                </a:solidFill>
              </a:rPr>
              <a:t>Pharmaceutical GenAI Drug Discovery V3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21792" y="1810512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6B7280"/>
                </a:solidFill>
              </a:rPr>
              <a:t>Enterprise AI platform for ADMET, toxicity, reliability, graph molecular modeling, literature RAG, and deployable MLOps.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1792" y="2560320"/>
            <a:ext cx="137160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2651760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GNN-ready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148840" y="25603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86000" y="2651760"/>
            <a:ext cx="1554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ADMET + Toxicity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33088" y="256032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270248" y="2651760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Uncertainty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742432" y="2560320"/>
            <a:ext cx="1554480" cy="384048"/>
          </a:xfrm>
          <a:prstGeom prst="roundRect">
            <a:avLst>
              <a:gd name="adj" fmla="val 19048"/>
            </a:avLst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879592" y="2651760"/>
            <a:ext cx="12801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RAG + MLOps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72400" y="914400"/>
            <a:ext cx="3520440" cy="4206240"/>
          </a:xfrm>
          <a:prstGeom prst="roundRect">
            <a:avLst>
              <a:gd name="adj" fmla="val 3117"/>
            </a:avLst>
          </a:prstGeom>
          <a:solidFill>
            <a:srgbClr val="11243D"/>
          </a:solidFill>
          <a:ln w="12700">
            <a:solidFill>
              <a:srgbClr val="112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138160" y="12801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From prototype to platform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1874520"/>
            <a:ext cx="2743200" cy="1920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V1: generative drug discovery concept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V2.1: validated Streamlit ADMET app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</a:rPr>
              <a:t>V3: enterprise pharmaceutical AI system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problem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Early discovery teams need faster triage without hiding scientific uncertainty.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8580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5039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5F"/>
                </a:solidFill>
              </a:rPr>
              <a:t>Attrition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5039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Promising compounds often fail for ADMET, safety, formulation, or exposure reasons.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86791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Scale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86791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Millions of possible molecules require rapid computational prioritization before synthesis/testing.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720840" y="1417320"/>
            <a:ext cx="274320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85432" y="1545336"/>
            <a:ext cx="2414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85432" y="1856232"/>
            <a:ext cx="2414016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Scientists need prediction, confidence, explanation, and evidence — not just a black-box score.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9784080" y="1554480"/>
            <a:ext cx="1097280" cy="1371600"/>
          </a:xfrm>
          <a:prstGeom prst="chevron">
            <a:avLst/>
          </a:prstGeom>
          <a:solidFill>
            <a:srgbClr val="3DDC9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555480" y="32004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62033"/>
                </a:solidFill>
              </a:rPr>
              <a:t>Decision-support platform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977640"/>
            <a:ext cx="9784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Rank compounds into advance / review / deprioritize / reject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Separate software validation from scientific validation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Make uncertainty explicit for stakeholders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2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review: V2.1 baseline vs V3 target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V3 keeps the deployable core and layers enterprise-grade capabilities on top.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0467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Current deployable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04672" y="1764792"/>
            <a:ext cx="296265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pandas, numpy, scikit-learn, Streamlit, pytest; RDKit is optional/commented for cloud portability.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145389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V3 scientific extensions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764792"/>
            <a:ext cx="296265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RDKit, PyTorch Geometric, SHAP, MLflow, BioPython, sentence transformers, FAISS as optional full-stack dependencies.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29600" y="1325880"/>
            <a:ext cx="310896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94192" y="1453896"/>
            <a:ext cx="27797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Design decision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94192" y="1764792"/>
            <a:ext cx="277977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Two-tier requirements: lightweight default for deployment; full requirements for scientific workstation/cloud GPU environments.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657600"/>
            <a:ext cx="102412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Default installation validates Streamlit, FastAPI, tests, and fallback cheminformatics.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Full installation enables real RDKit descriptors, GNN training, SHAP, RAG embeddings, and MLflow experiment management.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3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V3 enterprise architecture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 modular platform designed to evolve from demo to validated production models.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Data Sources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7512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ChEMBL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PubChem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DrugBank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304288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68880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Feature Engineering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468880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RDKit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Fingerprints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Graphs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05656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270248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Molecular 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70248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GNNs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Transformers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Generation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07024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071616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ADMET + Toxicity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71616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Multi-task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Endpoints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Ranking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708392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872984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5F"/>
                </a:solidFill>
              </a:rPr>
              <a:t>Reliability + XAI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872984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Uncertainty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SHAP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RAG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509760" y="1417320"/>
            <a:ext cx="1600200" cy="210312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112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674352" y="1545336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43D"/>
                </a:solidFill>
              </a:rPr>
              <a:t>Apps + MLOps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74352" y="1856232"/>
            <a:ext cx="1271016" cy="1572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Streamlit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FastAPI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Docker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 rot="5400000">
            <a:off x="2130552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 rot="5400000">
            <a:off x="3931920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 rot="5400000">
            <a:off x="5733288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 rot="5400000">
            <a:off x="7534656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 rot="5400000">
            <a:off x="9336024" y="2221992"/>
            <a:ext cx="164592" cy="411480"/>
          </a:xfrm>
          <a:prstGeom prst="triangle">
            <a:avLst/>
          </a:prstGeom>
          <a:solidFill>
            <a:srgbClr val="6B728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14400" y="4251960"/>
            <a:ext cx="96012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Seams allow trained models to replace transparent proxy functions.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Fallbacks keep the project deployable when heavy scientific libraries are unavailable.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4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and internal data integration strategy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Production drug discovery models need curated source mapping, not a single ad hoc CSV.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ChEMBL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Bioactivity, assay, target, and compound data for model training and benchmarking.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747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393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PubChem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393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Compound lookup, canonical SMILES, identifiers, and public chemistry metadata.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2179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3825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DrugBank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825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Approved drug reference sets and target/interaction metadata via local exports.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61120" y="1234440"/>
            <a:ext cx="246888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25712" y="1362456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BindingDB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25712" y="1673352"/>
            <a:ext cx="2139696" cy="8869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Protein-ligand binding activities and affinity datasets via local exports.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731520" y="33832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</a:rPr>
              <a:t>Unified schema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978408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source, compound_id, name, smiles, target, activity, metadata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162033"/>
                </a:solidFill>
              </a:rPr>
              <a:t>Offline demo records maintain reproducibility; online API calls can be enabled later.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5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Molecular AI model stack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Descriptor models remain interpretable; graph models learn molecular topology directly.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8755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Descriptor baseline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8755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Fast, interpretable, deployable; useful for early screening and stakeholder explanation.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00507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Fingerprints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0507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Morgan/hashed fingerprints capture substructure patterns for classical ML models.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858000" y="132588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022592" y="145389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Graph neural networks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22592" y="176479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PyTorch Geometric-ready interface for atom-bond message passing and multi-task learning.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3474720"/>
            <a:ext cx="28346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05072" y="36027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Generative AI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05072" y="3913632"/>
            <a:ext cx="2505456" cy="1024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Future molecule proposal loop can optimize target profile under ADMET constraints.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6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Multi-task ADMET and toxicity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V3 predicts a panel of endpoints instead of over-optimizing a single score.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6012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Oral absorption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7BEBB"/>
          </a:solidFill>
          <a:ln w="12700">
            <a:solidFill>
              <a:srgbClr val="17BEB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1188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BBB penetration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3DDC97"/>
          </a:solidFill>
          <a:ln w="12700">
            <a:solidFill>
              <a:srgbClr val="3DDC9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26364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CYP inhibition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0" y="14173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B000"/>
          </a:solidFill>
          <a:ln w="12700">
            <a:solidFill>
              <a:srgbClr val="FFB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915400" y="15087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Clearance risk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2296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FF5A5F"/>
          </a:solidFill>
          <a:ln w="12700">
            <a:solidFill>
              <a:srgbClr val="FF5A5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6012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Solubility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11243D"/>
          </a:solidFill>
          <a:ln w="12700">
            <a:solidFill>
              <a:srgbClr val="11243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61188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Overall toxicity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10312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962FF"/>
          </a:solidFill>
          <a:ln w="12700">
            <a:solidFill>
              <a:srgbClr val="2962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194560"/>
            <a:ext cx="1874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Drug-likeness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68680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33"/>
                </a:solidFill>
              </a:rPr>
              <a:t>Decision output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703320"/>
            <a:ext cx="9875520" cy="1371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advance: strong profile with acceptable risk and reliability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review: promising but uncertain or mixed endpoint profile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deprioritize/reject: high toxicity, low drug-likeness, or invalid input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7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Reliability and uncertainty are first-class outputs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Every prediction should communicate confidence, not only a number.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Applicability domain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Are descriptors inside the training-like medicinal chemistry region?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7764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4223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Ensemble disagreement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4223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Do independent model views agree on risk and developability?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86600" y="1417320"/>
            <a:ext cx="28346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251192" y="1545336"/>
            <a:ext cx="2505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5F"/>
                </a:solidFill>
              </a:rPr>
              <a:t>Decision boundary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51192" y="1856232"/>
            <a:ext cx="2505456" cy="10698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Is the probability close to a threshold where action could change?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14400" y="3977640"/>
            <a:ext cx="9784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62033"/>
                </a:solidFill>
              </a:rPr>
              <a:t>Output: confidence score · uncertainty score · reliability label · conformal-style intervals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8</a:t>
            </a:r>
            <a:endParaRPr lang="en-US" sz="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Explainability + literature intelligence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Model outputs are paired with feature attributions and scientific context.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SHAP-ready XAI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Optional SHAP integration with fallback medicinal-chemistry attribution for deployable environments.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0799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PubMed-style RAG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0799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Retrieves evidence snippets on ADMET, GNNs, uncertainty, and explainability.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818120" y="1325880"/>
            <a:ext cx="301752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82712" y="1453896"/>
            <a:ext cx="2688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Stakeholder trust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82712" y="1764792"/>
            <a:ext cx="2688336" cy="12070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Scientists can inspect why a molecule was flagged and what evidence supports the model view.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950976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Designed for auditability and scientific communication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162033"/>
                </a:solidFill>
              </a:rPr>
              <a:t>Ready for PubMed, patents, internal reports, and assay documentation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9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Deployment and MLOps design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The system is packaged as an application, API, container, and CI/CD-ready codebase.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9611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Streamlit 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Scientist-facing dashboard for SMILES input, ranked candidates, explanations, and CSV export.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3756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0215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FastAPI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0215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Programmatic health, analyze, and lookup endpoints for enterprise integration.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0819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Docker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10819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Reproducible local/cloud deployment with Streamlit and API service options.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549640" y="1234440"/>
            <a:ext cx="233172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14232" y="1362456"/>
            <a:ext cx="2002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CI/CD + MLflow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714232" y="1673352"/>
            <a:ext cx="2002536" cy="9784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GitHub Actions validates tests; MLflow-ready tracking supports experiment lineage.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397764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33"/>
                </a:solidFill>
              </a:rPr>
              <a:t>Production path: model registry · monitoring · calibration dashboard · governance review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10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Validation plan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Separate software validation from scientific validation.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686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332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Software validation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332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Unit tests, Streamlit smoke test, FastAPI health check, Docker build, GitHub Actions.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262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6908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Model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908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Train/validation/test split, external benchmarks, calibration, applicability-domain checks.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183880" y="1325880"/>
            <a:ext cx="29260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8472" y="145389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Scientific validation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348472" y="1764792"/>
            <a:ext cx="2596896" cy="1481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Prospective experimental testing, medicinal chemistry review, assay reproducibility.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51560" y="4160520"/>
            <a:ext cx="9601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700" dirty="0">
                <a:solidFill>
                  <a:srgbClr val="162033"/>
                </a:solidFill>
              </a:rPr>
              <a:t>Current V3 validates architecture and workflow; production requires curated experimental labels.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11</a:t>
            </a:r>
            <a:endParaRPr lang="en-US" sz="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Interview talk track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A concise story for pharmaceutical data science and ML engineering roles.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149840" cy="3977640"/>
          </a:xfrm>
          <a:prstGeom prst="roundRect">
            <a:avLst>
              <a:gd name="adj" fmla="val 2299"/>
            </a:avLst>
          </a:prstGeom>
          <a:solidFill>
            <a:srgbClr val="EAF2FF"/>
          </a:solidFill>
          <a:ln w="1270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43000" y="1691640"/>
            <a:ext cx="9464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800" i="1" dirty="0">
                <a:solidFill>
                  <a:srgbClr val="162033"/>
                </a:solidFill>
              </a:rPr>
              <a:t>“I evolved a validated V2 ADMET Streamlit application into a V3 enterprise drug discovery AI platform. V3 accepts SMILES, calculates descriptors and graph-ready representations, predicts multi-task ADMET and toxicity endpoints, quantifies uncertainty and reliability, explains feature drivers, retrieves literature context, and exposes both Streamlit and FastAPI interfaces with Docker, MLflow-ready tracking, and CI/CD structure.”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80160" y="4114800"/>
            <a:ext cx="905256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033"/>
                </a:solidFill>
              </a:rPr>
              <a:t>Limitation: proxy models are architecture-ready; production requires curated ADMET labels and external validation.</a:t>
            </a:r>
            <a:endParaRPr lang="en-US" sz="1300" dirty="0"/>
          </a:p>
          <a:p>
            <a:pPr marL="152400" indent="-152400">
              <a:buSzPct val="100000"/>
              <a:buChar char="•"/>
            </a:pPr>
            <a:r>
              <a:rPr lang="en-US" sz="1300" dirty="0">
                <a:solidFill>
                  <a:srgbClr val="162033"/>
                </a:solidFill>
              </a:rPr>
              <a:t>Next step: train GNN/multi-task model on ChEMBL/Tox21/ESOL/BBBP/ClinTox and calibrate uncertainty.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12</a:t>
            </a:r>
            <a:endParaRPr lang="en-US" sz="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20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from portfolio to production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30352" y="78638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</a:rPr>
              <a:t>Clear steps for turning V3 into a validated pharmaceutical AI product.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1. Curate public datasets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ChEMBL, Tox21, ESOL, BBBP, ClinTox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43484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17BE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9943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BEBB"/>
                </a:solidFill>
              </a:rPr>
              <a:t>2. Train multi-task ADMET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9943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Shared encoder with endpoint heads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275320" y="132588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39912" y="145389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3. Add GNN training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439912" y="176479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PyTorch Geometric message passing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9436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FFB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5895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00"/>
                </a:solidFill>
              </a:rPr>
              <a:t>4. Calibrate uncertainty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5895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Conformal and external calibration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3484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FF5A5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9943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5A5F"/>
                </a:solidFill>
              </a:rPr>
              <a:t>5. Integrate PubMed/patents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9943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Vector DB and evidence citations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75320" y="3246120"/>
            <a:ext cx="32461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7780">
            <a:solidFill>
              <a:srgbClr val="1124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39912" y="3374136"/>
            <a:ext cx="2916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1243D"/>
                </a:solidFill>
              </a:rPr>
              <a:t>6. Deploy governed service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39912" y="3685032"/>
            <a:ext cx="2916936" cy="7955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Monitoring, registry, compliance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13</a:t>
            </a:r>
            <a:endParaRPr lang="en-US" sz="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962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731520" y="1143000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033"/>
                </a:solidFill>
              </a:rPr>
              <a:t>V3 = enterprise-ready story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87452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6B7280"/>
                </a:solidFill>
              </a:rPr>
              <a:t>The project demonstrates not only modeling, but system design, uncertainty communication, explainability, deployment, and stakeholder-facing product thinking.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452360" y="1143000"/>
            <a:ext cx="329184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7780">
            <a:solidFill>
              <a:srgbClr val="2962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16952" y="12710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962FF"/>
                </a:solidFill>
              </a:rPr>
              <a:t>Portfolio progression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16952" y="1581912"/>
            <a:ext cx="2962656" cy="1664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V1: GenAI prototype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V2.1: validated pharma ML app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V3: enterprise AI platform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452360" y="3657600"/>
            <a:ext cx="3291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7780">
            <a:solidFill>
              <a:srgbClr val="3DDC9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616952" y="3785616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DDC97"/>
                </a:solidFill>
              </a:rPr>
              <a:t>Hiring relevance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616952" y="4096512"/>
            <a:ext cx="2962656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Pharmaceutical Data Scientist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Computational Chemist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ML Engineer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62033"/>
                </a:solidFill>
              </a:rPr>
              <a:t>AI Product / MLOps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9646920" y="6537960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280"/>
                </a:solidFill>
              </a:rPr>
              <a:t>Pharma GenAI V3 Enterprise Platform · 14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2455</Words>
  <Application>Microsoft Macintosh PowerPoint</Application>
  <PresentationFormat>Widescreen</PresentationFormat>
  <Paragraphs>341</Paragraphs>
  <Slides>29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Portfolio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V3 Enterprise Pharmaceutical AI Platform</dc:title>
  <dc:subject>Pharmaceutical GenAI Drug Discovery V3</dc:subject>
  <dc:creator>Yu Zhang</dc:creator>
  <cp:lastModifiedBy>Yu Zhang</cp:lastModifiedBy>
  <cp:revision>2</cp:revision>
  <dcterms:created xsi:type="dcterms:W3CDTF">2026-05-31T19:16:47Z</dcterms:created>
  <dcterms:modified xsi:type="dcterms:W3CDTF">2026-08-06T14:24:41Z</dcterms:modified>
</cp:coreProperties>
</file>