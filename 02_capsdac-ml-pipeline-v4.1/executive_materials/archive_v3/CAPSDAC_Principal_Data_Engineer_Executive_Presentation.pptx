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2"/>
  </p:normalViewPr>
  <p:slideViewPr>
    <p:cSldViewPr snapToGrid="0" snapToObjects="1">
      <p:cViewPr varScale="1">
        <p:scale>
          <a:sx n="95" d="100"/>
          <a:sy n="95" d="100"/>
        </p:scale>
        <p:origin x="4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7665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CAPSDAC Enrollment Forecast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51760"/>
            <a:ext cx="6675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CEBF5"/>
                </a:solidFill>
              </a:defRPr>
            </a:pPr>
            <a:r>
              <a:t>Principal Data Engineer Portfolio Upgrade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621792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rPr sz="2400" dirty="0">
                <a:solidFill>
                  <a:schemeClr val="bg1"/>
                </a:solidFill>
              </a:rPr>
              <a:t>Lakehouse-ready data product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rPr sz="2400" dirty="0">
                <a:solidFill>
                  <a:schemeClr val="bg1"/>
                </a:solidFill>
              </a:rPr>
              <a:t>Data contracts, governance, and privacy controls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</a:defRPr>
            </a:pPr>
            <a:r>
              <a:rPr sz="2400" dirty="0">
                <a:solidFill>
                  <a:schemeClr val="bg1"/>
                </a:solidFill>
              </a:rPr>
              <a:t>ML forecasting and executive reporting</a:t>
            </a:r>
          </a:p>
        </p:txBody>
      </p:sp>
      <p:pic>
        <p:nvPicPr>
          <p:cNvPr id="6" name="Picture 5" descr="principa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80160"/>
            <a:ext cx="438912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Why This Project Fits Principal Data Engineer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From notebook ML to governed education data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Owns the end-to-end platform: source data, validation, features, model, reports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Demonstrates privacy-conscious handling of sensitive education data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Connects technical architecture to staffing, capacity, and budget decisions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Shows cloud productionization: S3, Glue, Step Functions, SageMaker, Athena, monitoring</a:t>
            </a:r>
          </a:p>
        </p:txBody>
      </p:sp>
      <p:pic>
        <p:nvPicPr>
          <p:cNvPr id="5" name="Picture 4" descr="principa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3035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CAPSDAC Principal Data Engineer Upgrade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Current Repository Strength + Upgrade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What already works, and what had to be strengthened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Original repo: preprocessing, lag features, recursive forecast, vendor/site analysis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Gap for principal roles: production architecture, data contracts, CI/CD, monitoring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Upgrade adds modular package design, tests, cloud deployment skeletons, governance docs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Outcome: more credible for principal, staff, and AI data platform interviews</a:t>
            </a:r>
          </a:p>
        </p:txBody>
      </p:sp>
      <p:pic>
        <p:nvPicPr>
          <p:cNvPr id="5" name="Picture 4" descr="principa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3035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CAPSDAC Principal Data Engineer Upgrade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Target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Bronze/Silver/Gold lakehouse with ML and reporting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Bronze: immutable monthly CAPSDAC-style snapshots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Silver: validated parquet and contract-driven conformance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Gold: forecast features and vendor/site contribution marts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ML layer: recursive random forest forecast and artifact tracking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Consumption: dashboard, director report, CSV/API-ready outputs</a:t>
            </a:r>
          </a:p>
        </p:txBody>
      </p:sp>
      <p:pic>
        <p:nvPicPr>
          <p:cNvPr id="5" name="Picture 4" descr="principa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3035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CAPSDAC Principal Data Engineer Upgrade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Data Contracts and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Prevent schema drift and protect sensitive education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Required grain: SnapshotMonth x PreschoolCDSCode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Quality rules: non-negative enrollment, no duplicate site-month keys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Privacy rules: no child names, DOB, address, guardian IDs, or credentials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Public package uses synthetic de-identified data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280160"/>
            <a:ext cx="2103120" cy="1051560"/>
          </a:xfrm>
          <a:prstGeom prst="roundRect">
            <a:avLst/>
          </a:prstGeom>
          <a:solidFill>
            <a:srgbClr val="EAF3F8"/>
          </a:solidFill>
          <a:ln>
            <a:solidFill>
              <a:srgbClr val="B4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29400" y="1389888"/>
            <a:ext cx="1828799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F4E79"/>
                </a:solidFill>
              </a:defRPr>
            </a:pPr>
            <a:r>
              <a:t>Site-Month</a:t>
            </a:r>
          </a:p>
          <a:p>
            <a:pPr algn="ctr">
              <a:defRPr sz="1000">
                <a:solidFill>
                  <a:srgbClr val="3C3C3C"/>
                </a:solidFill>
              </a:defRPr>
            </a:pPr>
            <a:r>
              <a:t>Data grain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280160"/>
            <a:ext cx="2103120" cy="1051560"/>
          </a:xfrm>
          <a:prstGeom prst="roundRect">
            <a:avLst/>
          </a:prstGeom>
          <a:solidFill>
            <a:srgbClr val="EAF3F8"/>
          </a:solidFill>
          <a:ln>
            <a:solidFill>
              <a:srgbClr val="B4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98280" y="1389888"/>
            <a:ext cx="1828799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F4E79"/>
                </a:solidFill>
              </a:defRPr>
            </a:pPr>
            <a:r>
              <a:t>No PII</a:t>
            </a:r>
          </a:p>
          <a:p>
            <a:pPr algn="ctr">
              <a:defRPr sz="1000">
                <a:solidFill>
                  <a:srgbClr val="3C3C3C"/>
                </a:solidFill>
              </a:defRPr>
            </a:pPr>
            <a:r>
              <a:t>Privacy stance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743200"/>
            <a:ext cx="2103120" cy="1051560"/>
          </a:xfrm>
          <a:prstGeom prst="roundRect">
            <a:avLst/>
          </a:prstGeom>
          <a:solidFill>
            <a:srgbClr val="EAF3F8"/>
          </a:solidFill>
          <a:ln>
            <a:solidFill>
              <a:srgbClr val="B4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852928"/>
            <a:ext cx="1828799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F4E79"/>
                </a:solidFill>
              </a:defRPr>
            </a:pPr>
            <a:r>
              <a:t>No duplicates</a:t>
            </a:r>
          </a:p>
          <a:p>
            <a:pPr algn="ctr">
              <a:defRPr sz="1000">
                <a:solidFill>
                  <a:srgbClr val="3C3C3C"/>
                </a:solidFill>
              </a:defRPr>
            </a:pPr>
            <a:r>
              <a:t>Quality rule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2743200"/>
            <a:ext cx="2103120" cy="1051560"/>
          </a:xfrm>
          <a:prstGeom prst="roundRect">
            <a:avLst/>
          </a:prstGeom>
          <a:solidFill>
            <a:srgbClr val="EAF3F8"/>
          </a:solidFill>
          <a:ln>
            <a:solidFill>
              <a:srgbClr val="B4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98280" y="2852928"/>
            <a:ext cx="1828799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F4E79"/>
                </a:solidFill>
              </a:defRPr>
            </a:pPr>
            <a:r>
              <a:t>Planning only</a:t>
            </a:r>
          </a:p>
          <a:p>
            <a:pPr algn="ctr">
              <a:defRPr sz="1000">
                <a:solidFill>
                  <a:srgbClr val="3C3C3C"/>
                </a:solidFill>
              </a:defRPr>
            </a:pPr>
            <a:r>
              <a:t>Use 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CAPSDAC Principal Data Engineer Upgrade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Machine Learning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Short-horizon planning model designed for interpretability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Lag features: 1, 3, 6, and 12 month enrollment history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Rolling features: 3 and 6 month recent momentum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Seasonality: month sine/cosine indicators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Model: Random Forest Regressor for nonlinear site-level demand patterns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Forecast: recursive multi-month site forecasts aggregated to vendor/statewide</a:t>
            </a:r>
          </a:p>
        </p:txBody>
      </p:sp>
      <p:pic>
        <p:nvPicPr>
          <p:cNvPr id="5" name="Picture 4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3035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CAPSDAC Principal Data Engineer Upgrade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Model Results and 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Model metrics and feature importance communicate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Holdout MAE: 4.13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Holdout RMSE: 5.49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Holdout R2: 1.00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Feature importance highlights lag and seasonal drivers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Used for aggregate planning, not certified counts or individual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88720"/>
            <a:ext cx="1508760" cy="1005840"/>
          </a:xfrm>
          <a:prstGeom prst="roundRect">
            <a:avLst/>
          </a:prstGeom>
          <a:solidFill>
            <a:srgbClr val="EAF3F8"/>
          </a:solidFill>
          <a:ln>
            <a:solidFill>
              <a:srgbClr val="B4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37960" y="1298448"/>
            <a:ext cx="123443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F4E79"/>
                </a:solidFill>
              </a:defRPr>
            </a:pPr>
            <a:r>
              <a:t>4.13</a:t>
            </a:r>
          </a:p>
          <a:p>
            <a:pPr algn="ctr">
              <a:defRPr sz="1000">
                <a:solidFill>
                  <a:srgbClr val="3C3C3C"/>
                </a:solidFill>
              </a:defRPr>
            </a:pPr>
            <a:r>
              <a:t>MAE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188720"/>
            <a:ext cx="1508760" cy="1005840"/>
          </a:xfrm>
          <a:prstGeom prst="roundRect">
            <a:avLst/>
          </a:prstGeom>
          <a:solidFill>
            <a:srgbClr val="EAF3F8"/>
          </a:solidFill>
          <a:ln>
            <a:solidFill>
              <a:srgbClr val="B4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75320" y="1298448"/>
            <a:ext cx="123443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F4E79"/>
                </a:solidFill>
              </a:defRPr>
            </a:pPr>
            <a:r>
              <a:t>5.49</a:t>
            </a:r>
          </a:p>
          <a:p>
            <a:pPr algn="ctr">
              <a:defRPr sz="1000">
                <a:solidFill>
                  <a:srgbClr val="3C3C3C"/>
                </a:solidFill>
              </a:defRPr>
            </a:pPr>
            <a:r>
              <a:t>RMSE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1188720"/>
            <a:ext cx="1508760" cy="1005840"/>
          </a:xfrm>
          <a:prstGeom prst="roundRect">
            <a:avLst/>
          </a:prstGeom>
          <a:solidFill>
            <a:srgbClr val="EAF3F8"/>
          </a:solidFill>
          <a:ln>
            <a:solidFill>
              <a:srgbClr val="B4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12680" y="1298448"/>
            <a:ext cx="123443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F4E79"/>
                </a:solidFill>
              </a:defRPr>
            </a:pPr>
            <a:r>
              <a:t>1.00</a:t>
            </a:r>
          </a:p>
          <a:p>
            <a:pPr algn="ctr">
              <a:defRPr sz="1000">
                <a:solidFill>
                  <a:srgbClr val="3C3C3C"/>
                </a:solidFill>
              </a:defRPr>
            </a:pPr>
            <a:r>
              <a:t>R2</a:t>
            </a:r>
          </a:p>
        </p:txBody>
      </p:sp>
      <p:pic>
        <p:nvPicPr>
          <p:cNvPr id="11" name="Picture 10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514600"/>
            <a:ext cx="5120640" cy="3291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CAPSDAC Principal Data Engineer Upgrade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Forecast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Planning outputs at statewide, vendor, and site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Statewide forecast supports budget timing and staffing readiness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Vendor forecast identifies concentration risk among large providers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Site heatmap supports targeted capacity planning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Outputs are stored as reproducible CSV and figure artifacts</a:t>
            </a:r>
          </a:p>
        </p:txBody>
      </p:sp>
      <p:pic>
        <p:nvPicPr>
          <p:cNvPr id="5" name="Picture 4" descr="top_sit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3035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CAPSDAC Principal Data Engineer Upgrade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Operational 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What makes this principal-level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Automated validation and reproducible pipeline scripts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GitHub Actions CI for tests and quality checks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Monitoring plan: row counts, missing vendors/sites, forecast drift, schema drift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Cloud roadmap: S3, Glue, Step Functions, SageMaker, Athena, QuickSight, CloudWatch</a:t>
            </a:r>
          </a:p>
        </p:txBody>
      </p:sp>
      <p:pic>
        <p:nvPicPr>
          <p:cNvPr id="5" name="Picture 4" descr="principa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3035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CAPSDAC Principal Data Engineer Upgrade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Translate platform outputs into director-level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Target capacity support to high-demand sites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Plan staffing ahead of school-year peaks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Treat leading vendors as strategic partners and concentration risks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Use forecasts alongside policy judgment and domain review</a:t>
            </a:r>
          </a:p>
        </p:txBody>
      </p:sp>
      <p:pic>
        <p:nvPicPr>
          <p:cNvPr id="5" name="Picture 4" descr="top_vendor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3035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CAPSDAC Principal Data Engineer Upgrade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Interview Talk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60-second answer for principal data engineer interviews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I upgraded CAPSDAC forecasting into a governed data platform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I designed lakehouse layers, data contracts, model training, forecast outputs, and executive reporting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I added cloud production architecture, monitoring, CI/CD, and privacy controls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</a:defRPr>
            </a:pPr>
            <a:r>
              <a:t>The project shows I can turn analytics into reliable data products</a:t>
            </a:r>
          </a:p>
        </p:txBody>
      </p:sp>
      <p:pic>
        <p:nvPicPr>
          <p:cNvPr id="5" name="Picture 4" descr="principa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3035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CAPSDAC Principal Data Engineer Upgrade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How to take the portfolio into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3200400" cy="1143000"/>
          </a:xfrm>
          <a:prstGeom prst="roundRect">
            <a:avLst/>
          </a:prstGeom>
          <a:solidFill>
            <a:srgbClr val="EAF3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" y="1508760"/>
            <a:ext cx="2880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4E79"/>
                </a:solidFill>
              </a:defRPr>
            </a:pPr>
            <a:r>
              <a:t>1. Connect secure CAPSDAC extracts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280160"/>
            <a:ext cx="3200400" cy="1143000"/>
          </a:xfrm>
          <a:prstGeom prst="roundRect">
            <a:avLst/>
          </a:prstGeom>
          <a:solidFill>
            <a:srgbClr val="EAF3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99431" y="1508760"/>
            <a:ext cx="2880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4E79"/>
                </a:solidFill>
              </a:defRPr>
            </a:pPr>
            <a:r>
              <a:t>2. Register Bronze/Silver/Gold tables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280160"/>
            <a:ext cx="3200400" cy="1143000"/>
          </a:xfrm>
          <a:prstGeom prst="roundRect">
            <a:avLst/>
          </a:prstGeom>
          <a:solidFill>
            <a:srgbClr val="EAF3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48471" y="1508760"/>
            <a:ext cx="2880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4E79"/>
                </a:solidFill>
              </a:defRPr>
            </a:pPr>
            <a:r>
              <a:t>3. Add monthly backtesting and drift monitoring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3200400" cy="1143000"/>
          </a:xfrm>
          <a:prstGeom prst="roundRect">
            <a:avLst/>
          </a:prstGeom>
          <a:solidFill>
            <a:srgbClr val="EAF3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3657600"/>
            <a:ext cx="2880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4E79"/>
                </a:solidFill>
              </a:defRPr>
            </a:pPr>
            <a:r>
              <a:t>4. Deploy forecast refresh in SageMaker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429000"/>
            <a:ext cx="3200400" cy="1143000"/>
          </a:xfrm>
          <a:prstGeom prst="roundRect">
            <a:avLst/>
          </a:prstGeom>
          <a:solidFill>
            <a:srgbClr val="EAF3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1" y="3657600"/>
            <a:ext cx="2880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4E79"/>
                </a:solidFill>
              </a:defRPr>
            </a:pPr>
            <a:r>
              <a:t>5. Publish Athena/QuickSight data product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3429000"/>
            <a:ext cx="3200400" cy="1143000"/>
          </a:xfrm>
          <a:prstGeom prst="roundRect">
            <a:avLst/>
          </a:prstGeom>
          <a:solidFill>
            <a:srgbClr val="EAF3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48471" y="3657600"/>
            <a:ext cx="2880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4E79"/>
                </a:solidFill>
              </a:defRPr>
            </a:pPr>
            <a:r>
              <a:t>6. Formalize governance and access controls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CAPSDAC Principal Data Engineer Upgrade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The strongest story is platform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2D2D2D"/>
                </a:solidFill>
              </a:defRPr>
            </a:pPr>
            <a:r>
              <a:t>This project now demonstrates end-to-end ownership of an education data product.</a:t>
            </a:r>
          </a:p>
          <a:p>
            <a:pPr>
              <a:spcAft>
                <a:spcPts val="600"/>
              </a:spcAft>
              <a:defRPr sz="2200">
                <a:solidFill>
                  <a:srgbClr val="2D2D2D"/>
                </a:solidFill>
              </a:defRPr>
            </a:pPr>
            <a:r>
              <a:t>It combines data engineering, governance, applied ML, stakeholder reporting, and cloud architecture.</a:t>
            </a:r>
          </a:p>
          <a:p>
            <a:pPr>
              <a:spcAft>
                <a:spcPts val="600"/>
              </a:spcAft>
              <a:defRPr sz="2200">
                <a:solidFill>
                  <a:srgbClr val="2D2D2D"/>
                </a:solidFill>
              </a:defRPr>
            </a:pPr>
            <a:r>
              <a:t>For principal roles, the value is not only forecast accuracy; it is reliability, privacy, repeatability, and executive decision support.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87878"/>
                </a:solidFill>
              </a:defRPr>
            </a:pPr>
            <a:r>
              <a:t>CAPSDAC Principal Data Engineer Upgrade  |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789</Words>
  <Application>Microsoft Macintosh PowerPoint</Application>
  <PresentationFormat>Widescreen</PresentationFormat>
  <Paragraphs>107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 Zhang</cp:lastModifiedBy>
  <cp:revision>2</cp:revision>
  <dcterms:created xsi:type="dcterms:W3CDTF">2013-01-27T09:14:16Z</dcterms:created>
  <dcterms:modified xsi:type="dcterms:W3CDTF">2026-08-10T08:36:36Z</dcterms:modified>
  <cp:category/>
</cp:coreProperties>
</file>