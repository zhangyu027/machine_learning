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0" r:id="rId5"/>
    <p:sldId id="259" r:id="rId6"/>
    <p:sldId id="265" r:id="rId7"/>
    <p:sldId id="266" r:id="rId8"/>
    <p:sldId id="267" r:id="rId9"/>
    <p:sldId id="271" r:id="rId10"/>
    <p:sldId id="272" r:id="rId11"/>
    <p:sldId id="262" r:id="rId12"/>
    <p:sldId id="263" r:id="rId13"/>
    <p:sldId id="2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2" autoAdjust="0"/>
    <p:restoredTop sz="94660"/>
  </p:normalViewPr>
  <p:slideViewPr>
    <p:cSldViewPr snapToGrid="0">
      <p:cViewPr>
        <p:scale>
          <a:sx n="100" d="100"/>
          <a:sy n="100" d="100"/>
        </p:scale>
        <p:origin x="684" y="7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738DF9-D000-4F8A-97DC-D6C7B821A109}" type="doc">
      <dgm:prSet loTypeId="urn:microsoft.com/office/officeart/2005/8/layout/process4" loCatId="process" qsTypeId="urn:microsoft.com/office/officeart/2005/8/quickstyle/simple1" qsCatId="simple" csTypeId="urn:microsoft.com/office/officeart/2005/8/colors/colorful5" csCatId="colorful" phldr="1"/>
      <dgm:spPr/>
      <dgm:t>
        <a:bodyPr/>
        <a:lstStyle/>
        <a:p>
          <a:endParaRPr lang="en-US"/>
        </a:p>
      </dgm:t>
    </dgm:pt>
    <dgm:pt modelId="{E1173A70-AF25-4CDD-BC1C-4D028FA995AF}">
      <dgm:prSet/>
      <dgm:spPr/>
      <dgm:t>
        <a:bodyPr/>
        <a:lstStyle/>
        <a:p>
          <a:r>
            <a:rPr lang="en-US" dirty="0">
              <a:solidFill>
                <a:schemeClr val="tx1"/>
              </a:solidFill>
            </a:rPr>
            <a:t>What are the correlations between the features of educational financing and the elementary and secondary students' enrollments of local school districts?</a:t>
          </a:r>
        </a:p>
      </dgm:t>
    </dgm:pt>
    <dgm:pt modelId="{D46B4CCD-1FE5-4109-9610-F30A452C5DEC}" type="parTrans" cxnId="{0DDF054C-49F8-49E8-A63B-956F4CD43155}">
      <dgm:prSet/>
      <dgm:spPr/>
      <dgm:t>
        <a:bodyPr/>
        <a:lstStyle/>
        <a:p>
          <a:endParaRPr lang="en-US"/>
        </a:p>
      </dgm:t>
    </dgm:pt>
    <dgm:pt modelId="{7985F035-4FF2-424E-9960-34DA29ABCF9B}" type="sibTrans" cxnId="{0DDF054C-49F8-49E8-A63B-956F4CD43155}">
      <dgm:prSet/>
      <dgm:spPr/>
      <dgm:t>
        <a:bodyPr/>
        <a:lstStyle/>
        <a:p>
          <a:endParaRPr lang="en-US"/>
        </a:p>
      </dgm:t>
    </dgm:pt>
    <dgm:pt modelId="{C16DB346-2BDB-47AA-8EDE-5C76A6066AE4}">
      <dgm:prSet/>
      <dgm:spPr/>
      <dgm:t>
        <a:bodyPr/>
        <a:lstStyle/>
        <a:p>
          <a:r>
            <a:rPr lang="en-US" dirty="0">
              <a:solidFill>
                <a:schemeClr val="tx1"/>
              </a:solidFill>
            </a:rPr>
            <a:t>What is the model fit for the relevant educational financing features to predict the likelihood of enrollment in the next school year?</a:t>
          </a:r>
        </a:p>
      </dgm:t>
    </dgm:pt>
    <dgm:pt modelId="{9B826A3F-5D3F-4258-A734-FD92052F289F}" type="parTrans" cxnId="{A4DFD0DA-6DF3-4824-AAB5-FA277DAAA11A}">
      <dgm:prSet/>
      <dgm:spPr/>
      <dgm:t>
        <a:bodyPr/>
        <a:lstStyle/>
        <a:p>
          <a:endParaRPr lang="en-US"/>
        </a:p>
      </dgm:t>
    </dgm:pt>
    <dgm:pt modelId="{11D14E32-8C9B-49D6-919D-FC022B500085}" type="sibTrans" cxnId="{A4DFD0DA-6DF3-4824-AAB5-FA277DAAA11A}">
      <dgm:prSet/>
      <dgm:spPr/>
      <dgm:t>
        <a:bodyPr/>
        <a:lstStyle/>
        <a:p>
          <a:endParaRPr lang="en-US"/>
        </a:p>
      </dgm:t>
    </dgm:pt>
    <dgm:pt modelId="{4569B4FA-0F95-488B-B2D5-13CE3F9ABC68}">
      <dgm:prSet/>
      <dgm:spPr/>
      <dgm:t>
        <a:bodyPr/>
        <a:lstStyle/>
        <a:p>
          <a:r>
            <a:rPr lang="en-US" dirty="0">
              <a:solidFill>
                <a:schemeClr val="tx1"/>
              </a:solidFill>
            </a:rPr>
            <a:t>What is the recommendation to the stakeholders on financing management to increase  the enrollment of elementary and secondary students? </a:t>
          </a:r>
          <a:br>
            <a:rPr lang="en-US" dirty="0">
              <a:solidFill>
                <a:schemeClr val="tx1"/>
              </a:solidFill>
            </a:rPr>
          </a:br>
          <a:endParaRPr lang="en-US" dirty="0">
            <a:solidFill>
              <a:schemeClr val="tx1"/>
            </a:solidFill>
          </a:endParaRPr>
        </a:p>
      </dgm:t>
    </dgm:pt>
    <dgm:pt modelId="{D96B88B4-825E-4424-BB15-FF0936FF9860}" type="parTrans" cxnId="{4A65F998-727D-49E9-8B9F-F79D90F67179}">
      <dgm:prSet/>
      <dgm:spPr/>
      <dgm:t>
        <a:bodyPr/>
        <a:lstStyle/>
        <a:p>
          <a:endParaRPr lang="en-US"/>
        </a:p>
      </dgm:t>
    </dgm:pt>
    <dgm:pt modelId="{A75AD221-D89D-45CB-B08D-0294F8A5B298}" type="sibTrans" cxnId="{4A65F998-727D-49E9-8B9F-F79D90F67179}">
      <dgm:prSet/>
      <dgm:spPr/>
      <dgm:t>
        <a:bodyPr/>
        <a:lstStyle/>
        <a:p>
          <a:endParaRPr lang="en-US"/>
        </a:p>
      </dgm:t>
    </dgm:pt>
    <dgm:pt modelId="{B785D89F-D53F-4495-82BE-5CA07C88968F}" type="pres">
      <dgm:prSet presAssocID="{D2738DF9-D000-4F8A-97DC-D6C7B821A109}" presName="Name0" presStyleCnt="0">
        <dgm:presLayoutVars>
          <dgm:dir/>
          <dgm:animLvl val="lvl"/>
          <dgm:resizeHandles val="exact"/>
        </dgm:presLayoutVars>
      </dgm:prSet>
      <dgm:spPr/>
    </dgm:pt>
    <dgm:pt modelId="{3691EE17-E76D-4B7B-8F7C-D226F6B9285D}" type="pres">
      <dgm:prSet presAssocID="{4569B4FA-0F95-488B-B2D5-13CE3F9ABC68}" presName="boxAndChildren" presStyleCnt="0"/>
      <dgm:spPr/>
    </dgm:pt>
    <dgm:pt modelId="{6633F58F-3273-443A-A1FC-2E1EB1218A53}" type="pres">
      <dgm:prSet presAssocID="{4569B4FA-0F95-488B-B2D5-13CE3F9ABC68}" presName="parentTextBox" presStyleLbl="node1" presStyleIdx="0" presStyleCnt="3"/>
      <dgm:spPr/>
    </dgm:pt>
    <dgm:pt modelId="{69E7EB86-7E06-49EB-84D1-1E4A50CEBC21}" type="pres">
      <dgm:prSet presAssocID="{11D14E32-8C9B-49D6-919D-FC022B500085}" presName="sp" presStyleCnt="0"/>
      <dgm:spPr/>
    </dgm:pt>
    <dgm:pt modelId="{0C576103-0F23-4C33-A243-123DDE3A8930}" type="pres">
      <dgm:prSet presAssocID="{C16DB346-2BDB-47AA-8EDE-5C76A6066AE4}" presName="arrowAndChildren" presStyleCnt="0"/>
      <dgm:spPr/>
    </dgm:pt>
    <dgm:pt modelId="{B063AFE7-6F37-45DA-906E-BE107E7C0D69}" type="pres">
      <dgm:prSet presAssocID="{C16DB346-2BDB-47AA-8EDE-5C76A6066AE4}" presName="parentTextArrow" presStyleLbl="node1" presStyleIdx="1" presStyleCnt="3"/>
      <dgm:spPr/>
    </dgm:pt>
    <dgm:pt modelId="{D5AC035D-C14E-4204-B754-4AC779614C0E}" type="pres">
      <dgm:prSet presAssocID="{7985F035-4FF2-424E-9960-34DA29ABCF9B}" presName="sp" presStyleCnt="0"/>
      <dgm:spPr/>
    </dgm:pt>
    <dgm:pt modelId="{B5BA2D3C-39E1-41B0-BAA2-91A8C7651940}" type="pres">
      <dgm:prSet presAssocID="{E1173A70-AF25-4CDD-BC1C-4D028FA995AF}" presName="arrowAndChildren" presStyleCnt="0"/>
      <dgm:spPr/>
    </dgm:pt>
    <dgm:pt modelId="{C17A01F3-74FC-46AD-B018-BDF977CBA12E}" type="pres">
      <dgm:prSet presAssocID="{E1173A70-AF25-4CDD-BC1C-4D028FA995AF}" presName="parentTextArrow" presStyleLbl="node1" presStyleIdx="2" presStyleCnt="3"/>
      <dgm:spPr/>
    </dgm:pt>
  </dgm:ptLst>
  <dgm:cxnLst>
    <dgm:cxn modelId="{6151175F-3C6E-460C-A948-3FA5A85C12FA}" type="presOf" srcId="{E1173A70-AF25-4CDD-BC1C-4D028FA995AF}" destId="{C17A01F3-74FC-46AD-B018-BDF977CBA12E}" srcOrd="0" destOrd="0" presId="urn:microsoft.com/office/officeart/2005/8/layout/process4"/>
    <dgm:cxn modelId="{0DDF054C-49F8-49E8-A63B-956F4CD43155}" srcId="{D2738DF9-D000-4F8A-97DC-D6C7B821A109}" destId="{E1173A70-AF25-4CDD-BC1C-4D028FA995AF}" srcOrd="0" destOrd="0" parTransId="{D46B4CCD-1FE5-4109-9610-F30A452C5DEC}" sibTransId="{7985F035-4FF2-424E-9960-34DA29ABCF9B}"/>
    <dgm:cxn modelId="{6E057F6F-BEFD-4C78-955C-FF49238C6033}" type="presOf" srcId="{4569B4FA-0F95-488B-B2D5-13CE3F9ABC68}" destId="{6633F58F-3273-443A-A1FC-2E1EB1218A53}" srcOrd="0" destOrd="0" presId="urn:microsoft.com/office/officeart/2005/8/layout/process4"/>
    <dgm:cxn modelId="{4A65F998-727D-49E9-8B9F-F79D90F67179}" srcId="{D2738DF9-D000-4F8A-97DC-D6C7B821A109}" destId="{4569B4FA-0F95-488B-B2D5-13CE3F9ABC68}" srcOrd="2" destOrd="0" parTransId="{D96B88B4-825E-4424-BB15-FF0936FF9860}" sibTransId="{A75AD221-D89D-45CB-B08D-0294F8A5B298}"/>
    <dgm:cxn modelId="{B06E4CB3-F4D4-4431-8C96-34406B0DB05C}" type="presOf" srcId="{D2738DF9-D000-4F8A-97DC-D6C7B821A109}" destId="{B785D89F-D53F-4495-82BE-5CA07C88968F}" srcOrd="0" destOrd="0" presId="urn:microsoft.com/office/officeart/2005/8/layout/process4"/>
    <dgm:cxn modelId="{2C3EF7C0-ACEB-43FE-AF27-D7F6BD292B05}" type="presOf" srcId="{C16DB346-2BDB-47AA-8EDE-5C76A6066AE4}" destId="{B063AFE7-6F37-45DA-906E-BE107E7C0D69}" srcOrd="0" destOrd="0" presId="urn:microsoft.com/office/officeart/2005/8/layout/process4"/>
    <dgm:cxn modelId="{A4DFD0DA-6DF3-4824-AAB5-FA277DAAA11A}" srcId="{D2738DF9-D000-4F8A-97DC-D6C7B821A109}" destId="{C16DB346-2BDB-47AA-8EDE-5C76A6066AE4}" srcOrd="1" destOrd="0" parTransId="{9B826A3F-5D3F-4258-A734-FD92052F289F}" sibTransId="{11D14E32-8C9B-49D6-919D-FC022B500085}"/>
    <dgm:cxn modelId="{4B5CAD88-F748-4605-B521-3A8C63C5AC2B}" type="presParOf" srcId="{B785D89F-D53F-4495-82BE-5CA07C88968F}" destId="{3691EE17-E76D-4B7B-8F7C-D226F6B9285D}" srcOrd="0" destOrd="0" presId="urn:microsoft.com/office/officeart/2005/8/layout/process4"/>
    <dgm:cxn modelId="{226C19DF-D9D6-41A6-B78F-B29349051BC2}" type="presParOf" srcId="{3691EE17-E76D-4B7B-8F7C-D226F6B9285D}" destId="{6633F58F-3273-443A-A1FC-2E1EB1218A53}" srcOrd="0" destOrd="0" presId="urn:microsoft.com/office/officeart/2005/8/layout/process4"/>
    <dgm:cxn modelId="{CDC8A11E-311B-4F63-AF23-08C0E8E8A319}" type="presParOf" srcId="{B785D89F-D53F-4495-82BE-5CA07C88968F}" destId="{69E7EB86-7E06-49EB-84D1-1E4A50CEBC21}" srcOrd="1" destOrd="0" presId="urn:microsoft.com/office/officeart/2005/8/layout/process4"/>
    <dgm:cxn modelId="{C0777452-EFB2-404F-82D5-70CBDE910B4C}" type="presParOf" srcId="{B785D89F-D53F-4495-82BE-5CA07C88968F}" destId="{0C576103-0F23-4C33-A243-123DDE3A8930}" srcOrd="2" destOrd="0" presId="urn:microsoft.com/office/officeart/2005/8/layout/process4"/>
    <dgm:cxn modelId="{7A371515-BF09-4C86-B2C2-6451CF4A8F9F}" type="presParOf" srcId="{0C576103-0F23-4C33-A243-123DDE3A8930}" destId="{B063AFE7-6F37-45DA-906E-BE107E7C0D69}" srcOrd="0" destOrd="0" presId="urn:microsoft.com/office/officeart/2005/8/layout/process4"/>
    <dgm:cxn modelId="{7369798C-C55C-4DEA-BA59-BCF5810F0721}" type="presParOf" srcId="{B785D89F-D53F-4495-82BE-5CA07C88968F}" destId="{D5AC035D-C14E-4204-B754-4AC779614C0E}" srcOrd="3" destOrd="0" presId="urn:microsoft.com/office/officeart/2005/8/layout/process4"/>
    <dgm:cxn modelId="{AEC4C6E5-62D2-41C7-8D57-2D32FC57F8C2}" type="presParOf" srcId="{B785D89F-D53F-4495-82BE-5CA07C88968F}" destId="{B5BA2D3C-39E1-41B0-BAA2-91A8C7651940}" srcOrd="4" destOrd="0" presId="urn:microsoft.com/office/officeart/2005/8/layout/process4"/>
    <dgm:cxn modelId="{3B617807-4601-4BAC-96FF-BD6DC051B7B3}" type="presParOf" srcId="{B5BA2D3C-39E1-41B0-BAA2-91A8C7651940}" destId="{C17A01F3-74FC-46AD-B018-BDF977CBA12E}"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33F58F-3273-443A-A1FC-2E1EB1218A53}">
      <dsp:nvSpPr>
        <dsp:cNvPr id="0" name=""/>
        <dsp:cNvSpPr/>
      </dsp:nvSpPr>
      <dsp:spPr>
        <a:xfrm>
          <a:off x="0" y="4167346"/>
          <a:ext cx="6900512" cy="1367816"/>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What is the recommendation to the stakeholders on financing management to increase  the enrollment of elementary and secondary students? </a:t>
          </a:r>
          <a:br>
            <a:rPr lang="en-US" sz="1900" kern="1200" dirty="0">
              <a:solidFill>
                <a:schemeClr val="tx1"/>
              </a:solidFill>
            </a:rPr>
          </a:br>
          <a:endParaRPr lang="en-US" sz="1900" kern="1200" dirty="0">
            <a:solidFill>
              <a:schemeClr val="tx1"/>
            </a:solidFill>
          </a:endParaRPr>
        </a:p>
      </dsp:txBody>
      <dsp:txXfrm>
        <a:off x="0" y="4167346"/>
        <a:ext cx="6900512" cy="1367816"/>
      </dsp:txXfrm>
    </dsp:sp>
    <dsp:sp modelId="{B063AFE7-6F37-45DA-906E-BE107E7C0D69}">
      <dsp:nvSpPr>
        <dsp:cNvPr id="0" name=""/>
        <dsp:cNvSpPr/>
      </dsp:nvSpPr>
      <dsp:spPr>
        <a:xfrm rot="10800000">
          <a:off x="0" y="2084162"/>
          <a:ext cx="6900512" cy="2103701"/>
        </a:xfrm>
        <a:prstGeom prst="upArrowCallou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What is the model fit for the relevant educational financing features to predict the likelihood of enrollment in the next school year?</a:t>
          </a:r>
        </a:p>
      </dsp:txBody>
      <dsp:txXfrm rot="10800000">
        <a:off x="0" y="2084162"/>
        <a:ext cx="6900512" cy="1366922"/>
      </dsp:txXfrm>
    </dsp:sp>
    <dsp:sp modelId="{C17A01F3-74FC-46AD-B018-BDF977CBA12E}">
      <dsp:nvSpPr>
        <dsp:cNvPr id="0" name=""/>
        <dsp:cNvSpPr/>
      </dsp:nvSpPr>
      <dsp:spPr>
        <a:xfrm rot="10800000">
          <a:off x="0" y="978"/>
          <a:ext cx="6900512" cy="2103701"/>
        </a:xfrm>
        <a:prstGeom prst="upArrowCallou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What are the correlations between the features of educational financing and the elementary and secondary students' enrollments of local school districts?</a:t>
          </a:r>
        </a:p>
      </dsp:txBody>
      <dsp:txXfrm rot="10800000">
        <a:off x="0" y="978"/>
        <a:ext cx="6900512" cy="1366922"/>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12D67-8C5C-4B6A-9518-D3F27AB533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849D35-9BEC-47A9-B83E-0EF6B44924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745505-741F-4C28-B4F1-6AC529E61734}"/>
              </a:ext>
            </a:extLst>
          </p:cNvPr>
          <p:cNvSpPr>
            <a:spLocks noGrp="1"/>
          </p:cNvSpPr>
          <p:nvPr>
            <p:ph type="dt" sz="half" idx="10"/>
          </p:nvPr>
        </p:nvSpPr>
        <p:spPr/>
        <p:txBody>
          <a:bodyPr/>
          <a:lstStyle/>
          <a:p>
            <a:fld id="{79E663CF-8B43-4910-9912-72D5C277438F}" type="datetimeFigureOut">
              <a:rPr lang="en-US" smtClean="0"/>
              <a:t>2/16/2021</a:t>
            </a:fld>
            <a:endParaRPr lang="en-US"/>
          </a:p>
        </p:txBody>
      </p:sp>
      <p:sp>
        <p:nvSpPr>
          <p:cNvPr id="5" name="Footer Placeholder 4">
            <a:extLst>
              <a:ext uri="{FF2B5EF4-FFF2-40B4-BE49-F238E27FC236}">
                <a16:creationId xmlns:a16="http://schemas.microsoft.com/office/drawing/2014/main" id="{B7BA889D-1668-42AD-80B2-1B3612C22B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0CC04-14A4-4C45-A0EF-0B7A4B20D2EC}"/>
              </a:ext>
            </a:extLst>
          </p:cNvPr>
          <p:cNvSpPr>
            <a:spLocks noGrp="1"/>
          </p:cNvSpPr>
          <p:nvPr>
            <p:ph type="sldNum" sz="quarter" idx="12"/>
          </p:nvPr>
        </p:nvSpPr>
        <p:spPr/>
        <p:txBody>
          <a:bodyPr/>
          <a:lstStyle/>
          <a:p>
            <a:fld id="{BEEA6677-05C1-4C71-9CD1-42C911AFFCC7}" type="slidenum">
              <a:rPr lang="en-US" smtClean="0"/>
              <a:t>‹#›</a:t>
            </a:fld>
            <a:endParaRPr lang="en-US"/>
          </a:p>
        </p:txBody>
      </p:sp>
    </p:spTree>
    <p:extLst>
      <p:ext uri="{BB962C8B-B14F-4D97-AF65-F5344CB8AC3E}">
        <p14:creationId xmlns:p14="http://schemas.microsoft.com/office/powerpoint/2010/main" val="2180835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E590-0773-4C4E-B045-6E78D69B1D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E29243-0C36-4F73-875C-F03BAD9827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25A763-5A61-4F10-8A1C-D9F0D7CCC829}"/>
              </a:ext>
            </a:extLst>
          </p:cNvPr>
          <p:cNvSpPr>
            <a:spLocks noGrp="1"/>
          </p:cNvSpPr>
          <p:nvPr>
            <p:ph type="dt" sz="half" idx="10"/>
          </p:nvPr>
        </p:nvSpPr>
        <p:spPr/>
        <p:txBody>
          <a:bodyPr/>
          <a:lstStyle/>
          <a:p>
            <a:fld id="{79E663CF-8B43-4910-9912-72D5C277438F}" type="datetimeFigureOut">
              <a:rPr lang="en-US" smtClean="0"/>
              <a:t>2/16/2021</a:t>
            </a:fld>
            <a:endParaRPr lang="en-US"/>
          </a:p>
        </p:txBody>
      </p:sp>
      <p:sp>
        <p:nvSpPr>
          <p:cNvPr id="5" name="Footer Placeholder 4">
            <a:extLst>
              <a:ext uri="{FF2B5EF4-FFF2-40B4-BE49-F238E27FC236}">
                <a16:creationId xmlns:a16="http://schemas.microsoft.com/office/drawing/2014/main" id="{48B3AFBA-625F-490F-9C1A-F92D8795E2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3984FC-D2A9-4305-85E7-440E082BA1FA}"/>
              </a:ext>
            </a:extLst>
          </p:cNvPr>
          <p:cNvSpPr>
            <a:spLocks noGrp="1"/>
          </p:cNvSpPr>
          <p:nvPr>
            <p:ph type="sldNum" sz="quarter" idx="12"/>
          </p:nvPr>
        </p:nvSpPr>
        <p:spPr/>
        <p:txBody>
          <a:bodyPr/>
          <a:lstStyle/>
          <a:p>
            <a:fld id="{BEEA6677-05C1-4C71-9CD1-42C911AFFCC7}" type="slidenum">
              <a:rPr lang="en-US" smtClean="0"/>
              <a:t>‹#›</a:t>
            </a:fld>
            <a:endParaRPr lang="en-US"/>
          </a:p>
        </p:txBody>
      </p:sp>
    </p:spTree>
    <p:extLst>
      <p:ext uri="{BB962C8B-B14F-4D97-AF65-F5344CB8AC3E}">
        <p14:creationId xmlns:p14="http://schemas.microsoft.com/office/powerpoint/2010/main" val="3572153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14C7A-435C-4162-8D1D-1E9B014CF7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316AEA-6C28-482B-9A58-7EB7C77051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B3F0EB-4573-4D0E-A84F-58F939B0FBAD}"/>
              </a:ext>
            </a:extLst>
          </p:cNvPr>
          <p:cNvSpPr>
            <a:spLocks noGrp="1"/>
          </p:cNvSpPr>
          <p:nvPr>
            <p:ph type="dt" sz="half" idx="10"/>
          </p:nvPr>
        </p:nvSpPr>
        <p:spPr/>
        <p:txBody>
          <a:bodyPr/>
          <a:lstStyle/>
          <a:p>
            <a:fld id="{79E663CF-8B43-4910-9912-72D5C277438F}" type="datetimeFigureOut">
              <a:rPr lang="en-US" smtClean="0"/>
              <a:t>2/16/2021</a:t>
            </a:fld>
            <a:endParaRPr lang="en-US"/>
          </a:p>
        </p:txBody>
      </p:sp>
      <p:sp>
        <p:nvSpPr>
          <p:cNvPr id="5" name="Footer Placeholder 4">
            <a:extLst>
              <a:ext uri="{FF2B5EF4-FFF2-40B4-BE49-F238E27FC236}">
                <a16:creationId xmlns:a16="http://schemas.microsoft.com/office/drawing/2014/main" id="{C66031A5-95F8-417C-B87D-8C9B7EA6F3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1CC78F-7EBF-4F8B-9A5A-6CAB453C3BC7}"/>
              </a:ext>
            </a:extLst>
          </p:cNvPr>
          <p:cNvSpPr>
            <a:spLocks noGrp="1"/>
          </p:cNvSpPr>
          <p:nvPr>
            <p:ph type="sldNum" sz="quarter" idx="12"/>
          </p:nvPr>
        </p:nvSpPr>
        <p:spPr/>
        <p:txBody>
          <a:bodyPr/>
          <a:lstStyle/>
          <a:p>
            <a:fld id="{BEEA6677-05C1-4C71-9CD1-42C911AFFCC7}" type="slidenum">
              <a:rPr lang="en-US" smtClean="0"/>
              <a:t>‹#›</a:t>
            </a:fld>
            <a:endParaRPr lang="en-US"/>
          </a:p>
        </p:txBody>
      </p:sp>
    </p:spTree>
    <p:extLst>
      <p:ext uri="{BB962C8B-B14F-4D97-AF65-F5344CB8AC3E}">
        <p14:creationId xmlns:p14="http://schemas.microsoft.com/office/powerpoint/2010/main" val="3838898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49F12-BDB8-4C5A-A625-E4479872E8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D34A44-E2D9-4E7B-A8D2-FEB0BACE64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E17A28-E76E-430A-B877-C636E157BC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35858-CFDF-41C7-B06D-0EE66AA0F106}"/>
              </a:ext>
            </a:extLst>
          </p:cNvPr>
          <p:cNvSpPr>
            <a:spLocks noGrp="1"/>
          </p:cNvSpPr>
          <p:nvPr>
            <p:ph type="dt" sz="half" idx="10"/>
          </p:nvPr>
        </p:nvSpPr>
        <p:spPr/>
        <p:txBody>
          <a:bodyPr/>
          <a:lstStyle/>
          <a:p>
            <a:fld id="{79E663CF-8B43-4910-9912-72D5C277438F}" type="datetimeFigureOut">
              <a:rPr lang="en-US" smtClean="0"/>
              <a:t>2/16/2021</a:t>
            </a:fld>
            <a:endParaRPr lang="en-US"/>
          </a:p>
        </p:txBody>
      </p:sp>
      <p:sp>
        <p:nvSpPr>
          <p:cNvPr id="6" name="Footer Placeholder 5">
            <a:extLst>
              <a:ext uri="{FF2B5EF4-FFF2-40B4-BE49-F238E27FC236}">
                <a16:creationId xmlns:a16="http://schemas.microsoft.com/office/drawing/2014/main" id="{40BB75C4-3217-4D87-8277-89C2BE3E5D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6D2866-18F0-41DF-9C50-C2F2CB7991D7}"/>
              </a:ext>
            </a:extLst>
          </p:cNvPr>
          <p:cNvSpPr>
            <a:spLocks noGrp="1"/>
          </p:cNvSpPr>
          <p:nvPr>
            <p:ph type="sldNum" sz="quarter" idx="12"/>
          </p:nvPr>
        </p:nvSpPr>
        <p:spPr/>
        <p:txBody>
          <a:bodyPr/>
          <a:lstStyle/>
          <a:p>
            <a:fld id="{BEEA6677-05C1-4C71-9CD1-42C911AFFCC7}" type="slidenum">
              <a:rPr lang="en-US" smtClean="0"/>
              <a:t>‹#›</a:t>
            </a:fld>
            <a:endParaRPr lang="en-US"/>
          </a:p>
        </p:txBody>
      </p:sp>
    </p:spTree>
    <p:extLst>
      <p:ext uri="{BB962C8B-B14F-4D97-AF65-F5344CB8AC3E}">
        <p14:creationId xmlns:p14="http://schemas.microsoft.com/office/powerpoint/2010/main" val="3534326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845A4-71EB-44D9-95E9-13497B07177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1D8044-D132-47A4-BED2-6EB56616E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0BE16C-B024-48F3-A299-BF24332FDD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B8ABD0-2E04-419B-9D75-EDD9E3B290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30DFE3-D5C3-41FD-8519-A3B64CB5B4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8F2D11-DA19-44E8-9708-B5F82158CD60}"/>
              </a:ext>
            </a:extLst>
          </p:cNvPr>
          <p:cNvSpPr>
            <a:spLocks noGrp="1"/>
          </p:cNvSpPr>
          <p:nvPr>
            <p:ph type="dt" sz="half" idx="10"/>
          </p:nvPr>
        </p:nvSpPr>
        <p:spPr/>
        <p:txBody>
          <a:bodyPr/>
          <a:lstStyle/>
          <a:p>
            <a:fld id="{79E663CF-8B43-4910-9912-72D5C277438F}" type="datetimeFigureOut">
              <a:rPr lang="en-US" smtClean="0"/>
              <a:t>2/16/2021</a:t>
            </a:fld>
            <a:endParaRPr lang="en-US"/>
          </a:p>
        </p:txBody>
      </p:sp>
      <p:sp>
        <p:nvSpPr>
          <p:cNvPr id="8" name="Footer Placeholder 7">
            <a:extLst>
              <a:ext uri="{FF2B5EF4-FFF2-40B4-BE49-F238E27FC236}">
                <a16:creationId xmlns:a16="http://schemas.microsoft.com/office/drawing/2014/main" id="{7D4C5C77-9FDB-4543-94B8-DE00E871BC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448947-6BD7-4252-930D-E5C3E52322C2}"/>
              </a:ext>
            </a:extLst>
          </p:cNvPr>
          <p:cNvSpPr>
            <a:spLocks noGrp="1"/>
          </p:cNvSpPr>
          <p:nvPr>
            <p:ph type="sldNum" sz="quarter" idx="12"/>
          </p:nvPr>
        </p:nvSpPr>
        <p:spPr/>
        <p:txBody>
          <a:bodyPr/>
          <a:lstStyle/>
          <a:p>
            <a:fld id="{BEEA6677-05C1-4C71-9CD1-42C911AFFCC7}" type="slidenum">
              <a:rPr lang="en-US" smtClean="0"/>
              <a:t>‹#›</a:t>
            </a:fld>
            <a:endParaRPr lang="en-US"/>
          </a:p>
        </p:txBody>
      </p:sp>
    </p:spTree>
    <p:extLst>
      <p:ext uri="{BB962C8B-B14F-4D97-AF65-F5344CB8AC3E}">
        <p14:creationId xmlns:p14="http://schemas.microsoft.com/office/powerpoint/2010/main" val="2965692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9376-961D-4509-9B07-8324AFE1C77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63CDA5-4201-43F9-B62C-FF22D14FB0F0}"/>
              </a:ext>
            </a:extLst>
          </p:cNvPr>
          <p:cNvSpPr>
            <a:spLocks noGrp="1"/>
          </p:cNvSpPr>
          <p:nvPr>
            <p:ph type="dt" sz="half" idx="10"/>
          </p:nvPr>
        </p:nvSpPr>
        <p:spPr/>
        <p:txBody>
          <a:bodyPr/>
          <a:lstStyle/>
          <a:p>
            <a:fld id="{79E663CF-8B43-4910-9912-72D5C277438F}" type="datetimeFigureOut">
              <a:rPr lang="en-US" smtClean="0"/>
              <a:t>2/16/2021</a:t>
            </a:fld>
            <a:endParaRPr lang="en-US"/>
          </a:p>
        </p:txBody>
      </p:sp>
      <p:sp>
        <p:nvSpPr>
          <p:cNvPr id="4" name="Footer Placeholder 3">
            <a:extLst>
              <a:ext uri="{FF2B5EF4-FFF2-40B4-BE49-F238E27FC236}">
                <a16:creationId xmlns:a16="http://schemas.microsoft.com/office/drawing/2014/main" id="{8904A5C5-624A-405C-90F8-5B981238AA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CC7A4F-D58B-4737-8FE3-1CC0114215F5}"/>
              </a:ext>
            </a:extLst>
          </p:cNvPr>
          <p:cNvSpPr>
            <a:spLocks noGrp="1"/>
          </p:cNvSpPr>
          <p:nvPr>
            <p:ph type="sldNum" sz="quarter" idx="12"/>
          </p:nvPr>
        </p:nvSpPr>
        <p:spPr/>
        <p:txBody>
          <a:bodyPr/>
          <a:lstStyle/>
          <a:p>
            <a:fld id="{BEEA6677-05C1-4C71-9CD1-42C911AFFCC7}" type="slidenum">
              <a:rPr lang="en-US" smtClean="0"/>
              <a:t>‹#›</a:t>
            </a:fld>
            <a:endParaRPr lang="en-US"/>
          </a:p>
        </p:txBody>
      </p:sp>
    </p:spTree>
    <p:extLst>
      <p:ext uri="{BB962C8B-B14F-4D97-AF65-F5344CB8AC3E}">
        <p14:creationId xmlns:p14="http://schemas.microsoft.com/office/powerpoint/2010/main" val="3228074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677854-481F-436E-B67A-E7566E932AA4}"/>
              </a:ext>
            </a:extLst>
          </p:cNvPr>
          <p:cNvSpPr>
            <a:spLocks noGrp="1"/>
          </p:cNvSpPr>
          <p:nvPr>
            <p:ph type="dt" sz="half" idx="10"/>
          </p:nvPr>
        </p:nvSpPr>
        <p:spPr/>
        <p:txBody>
          <a:bodyPr/>
          <a:lstStyle/>
          <a:p>
            <a:fld id="{79E663CF-8B43-4910-9912-72D5C277438F}" type="datetimeFigureOut">
              <a:rPr lang="en-US" smtClean="0"/>
              <a:t>2/16/2021</a:t>
            </a:fld>
            <a:endParaRPr lang="en-US"/>
          </a:p>
        </p:txBody>
      </p:sp>
      <p:sp>
        <p:nvSpPr>
          <p:cNvPr id="3" name="Footer Placeholder 2">
            <a:extLst>
              <a:ext uri="{FF2B5EF4-FFF2-40B4-BE49-F238E27FC236}">
                <a16:creationId xmlns:a16="http://schemas.microsoft.com/office/drawing/2014/main" id="{2858AFA5-DEBA-43B3-A7D7-861B2FBC70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B76A4B-46B1-4363-A7FB-670EC473FD15}"/>
              </a:ext>
            </a:extLst>
          </p:cNvPr>
          <p:cNvSpPr>
            <a:spLocks noGrp="1"/>
          </p:cNvSpPr>
          <p:nvPr>
            <p:ph type="sldNum" sz="quarter" idx="12"/>
          </p:nvPr>
        </p:nvSpPr>
        <p:spPr/>
        <p:txBody>
          <a:bodyPr/>
          <a:lstStyle/>
          <a:p>
            <a:fld id="{BEEA6677-05C1-4C71-9CD1-42C911AFFCC7}" type="slidenum">
              <a:rPr lang="en-US" smtClean="0"/>
              <a:t>‹#›</a:t>
            </a:fld>
            <a:endParaRPr lang="en-US"/>
          </a:p>
        </p:txBody>
      </p:sp>
    </p:spTree>
    <p:extLst>
      <p:ext uri="{BB962C8B-B14F-4D97-AF65-F5344CB8AC3E}">
        <p14:creationId xmlns:p14="http://schemas.microsoft.com/office/powerpoint/2010/main" val="2835345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15BB-6400-405B-A6FF-F40120CC79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D2518B-3A65-4ACD-85B4-89D11DFDBF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3467E5-5C67-4FA8-8C73-0B364A327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FF42EF-A43E-4253-978A-CF2333845560}"/>
              </a:ext>
            </a:extLst>
          </p:cNvPr>
          <p:cNvSpPr>
            <a:spLocks noGrp="1"/>
          </p:cNvSpPr>
          <p:nvPr>
            <p:ph type="dt" sz="half" idx="10"/>
          </p:nvPr>
        </p:nvSpPr>
        <p:spPr/>
        <p:txBody>
          <a:bodyPr/>
          <a:lstStyle/>
          <a:p>
            <a:fld id="{79E663CF-8B43-4910-9912-72D5C277438F}" type="datetimeFigureOut">
              <a:rPr lang="en-US" smtClean="0"/>
              <a:t>2/16/2021</a:t>
            </a:fld>
            <a:endParaRPr lang="en-US"/>
          </a:p>
        </p:txBody>
      </p:sp>
      <p:sp>
        <p:nvSpPr>
          <p:cNvPr id="6" name="Footer Placeholder 5">
            <a:extLst>
              <a:ext uri="{FF2B5EF4-FFF2-40B4-BE49-F238E27FC236}">
                <a16:creationId xmlns:a16="http://schemas.microsoft.com/office/drawing/2014/main" id="{4F38217B-093B-4A0B-A66B-1018821FD2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6AD050-801E-4604-8663-D83C7FF5D70A}"/>
              </a:ext>
            </a:extLst>
          </p:cNvPr>
          <p:cNvSpPr>
            <a:spLocks noGrp="1"/>
          </p:cNvSpPr>
          <p:nvPr>
            <p:ph type="sldNum" sz="quarter" idx="12"/>
          </p:nvPr>
        </p:nvSpPr>
        <p:spPr/>
        <p:txBody>
          <a:bodyPr/>
          <a:lstStyle/>
          <a:p>
            <a:fld id="{BEEA6677-05C1-4C71-9CD1-42C911AFFCC7}" type="slidenum">
              <a:rPr lang="en-US" smtClean="0"/>
              <a:t>‹#›</a:t>
            </a:fld>
            <a:endParaRPr lang="en-US"/>
          </a:p>
        </p:txBody>
      </p:sp>
    </p:spTree>
    <p:extLst>
      <p:ext uri="{BB962C8B-B14F-4D97-AF65-F5344CB8AC3E}">
        <p14:creationId xmlns:p14="http://schemas.microsoft.com/office/powerpoint/2010/main" val="2912434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3FA5E-5BD2-4DD5-A287-999F47550E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7B0464-36B9-4EF7-AFC3-73777332F7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43133F-3803-448B-BF40-042929D9E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EE3E85-CA27-47F7-8D86-4AAF10B57490}"/>
              </a:ext>
            </a:extLst>
          </p:cNvPr>
          <p:cNvSpPr>
            <a:spLocks noGrp="1"/>
          </p:cNvSpPr>
          <p:nvPr>
            <p:ph type="dt" sz="half" idx="10"/>
          </p:nvPr>
        </p:nvSpPr>
        <p:spPr/>
        <p:txBody>
          <a:bodyPr/>
          <a:lstStyle/>
          <a:p>
            <a:fld id="{79E663CF-8B43-4910-9912-72D5C277438F}" type="datetimeFigureOut">
              <a:rPr lang="en-US" smtClean="0"/>
              <a:t>2/16/2021</a:t>
            </a:fld>
            <a:endParaRPr lang="en-US"/>
          </a:p>
        </p:txBody>
      </p:sp>
      <p:sp>
        <p:nvSpPr>
          <p:cNvPr id="6" name="Footer Placeholder 5">
            <a:extLst>
              <a:ext uri="{FF2B5EF4-FFF2-40B4-BE49-F238E27FC236}">
                <a16:creationId xmlns:a16="http://schemas.microsoft.com/office/drawing/2014/main" id="{4364DC9D-696D-4670-8308-5DC7375D47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3E55AF-530A-4934-9E98-BFB0A2A0E304}"/>
              </a:ext>
            </a:extLst>
          </p:cNvPr>
          <p:cNvSpPr>
            <a:spLocks noGrp="1"/>
          </p:cNvSpPr>
          <p:nvPr>
            <p:ph type="sldNum" sz="quarter" idx="12"/>
          </p:nvPr>
        </p:nvSpPr>
        <p:spPr/>
        <p:txBody>
          <a:bodyPr/>
          <a:lstStyle/>
          <a:p>
            <a:fld id="{BEEA6677-05C1-4C71-9CD1-42C911AFFCC7}" type="slidenum">
              <a:rPr lang="en-US" smtClean="0"/>
              <a:t>‹#›</a:t>
            </a:fld>
            <a:endParaRPr lang="en-US"/>
          </a:p>
        </p:txBody>
      </p:sp>
    </p:spTree>
    <p:extLst>
      <p:ext uri="{BB962C8B-B14F-4D97-AF65-F5344CB8AC3E}">
        <p14:creationId xmlns:p14="http://schemas.microsoft.com/office/powerpoint/2010/main" val="3500745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39741-D5BC-4839-A929-246490FC6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153B0F-0C7D-4312-928F-F07B5172A7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EB28-F5A9-4FC5-872C-6F3F863C06D1}"/>
              </a:ext>
            </a:extLst>
          </p:cNvPr>
          <p:cNvSpPr>
            <a:spLocks noGrp="1"/>
          </p:cNvSpPr>
          <p:nvPr>
            <p:ph type="dt" sz="half" idx="10"/>
          </p:nvPr>
        </p:nvSpPr>
        <p:spPr/>
        <p:txBody>
          <a:bodyPr/>
          <a:lstStyle/>
          <a:p>
            <a:fld id="{79E663CF-8B43-4910-9912-72D5C277438F}" type="datetimeFigureOut">
              <a:rPr lang="en-US" smtClean="0"/>
              <a:t>2/16/2021</a:t>
            </a:fld>
            <a:endParaRPr lang="en-US"/>
          </a:p>
        </p:txBody>
      </p:sp>
      <p:sp>
        <p:nvSpPr>
          <p:cNvPr id="5" name="Footer Placeholder 4">
            <a:extLst>
              <a:ext uri="{FF2B5EF4-FFF2-40B4-BE49-F238E27FC236}">
                <a16:creationId xmlns:a16="http://schemas.microsoft.com/office/drawing/2014/main" id="{1EDBFCF0-5EB6-48EB-86DC-D433B28914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FFBEC-D6C7-42AB-842E-94916ABED78F}"/>
              </a:ext>
            </a:extLst>
          </p:cNvPr>
          <p:cNvSpPr>
            <a:spLocks noGrp="1"/>
          </p:cNvSpPr>
          <p:nvPr>
            <p:ph type="sldNum" sz="quarter" idx="12"/>
          </p:nvPr>
        </p:nvSpPr>
        <p:spPr/>
        <p:txBody>
          <a:bodyPr/>
          <a:lstStyle/>
          <a:p>
            <a:fld id="{BEEA6677-05C1-4C71-9CD1-42C911AFFCC7}" type="slidenum">
              <a:rPr lang="en-US" smtClean="0"/>
              <a:t>‹#›</a:t>
            </a:fld>
            <a:endParaRPr lang="en-US"/>
          </a:p>
        </p:txBody>
      </p:sp>
    </p:spTree>
    <p:extLst>
      <p:ext uri="{BB962C8B-B14F-4D97-AF65-F5344CB8AC3E}">
        <p14:creationId xmlns:p14="http://schemas.microsoft.com/office/powerpoint/2010/main" val="2751547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80C28C-0D95-4D42-B77E-E738374488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4DC5A8-7E92-495C-BC1C-FC8E3C8DC4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1DA869-A18A-4659-BAC7-430C7FFA044D}"/>
              </a:ext>
            </a:extLst>
          </p:cNvPr>
          <p:cNvSpPr>
            <a:spLocks noGrp="1"/>
          </p:cNvSpPr>
          <p:nvPr>
            <p:ph type="dt" sz="half" idx="10"/>
          </p:nvPr>
        </p:nvSpPr>
        <p:spPr/>
        <p:txBody>
          <a:bodyPr/>
          <a:lstStyle/>
          <a:p>
            <a:fld id="{79E663CF-8B43-4910-9912-72D5C277438F}" type="datetimeFigureOut">
              <a:rPr lang="en-US" smtClean="0"/>
              <a:t>2/16/2021</a:t>
            </a:fld>
            <a:endParaRPr lang="en-US"/>
          </a:p>
        </p:txBody>
      </p:sp>
      <p:sp>
        <p:nvSpPr>
          <p:cNvPr id="5" name="Footer Placeholder 4">
            <a:extLst>
              <a:ext uri="{FF2B5EF4-FFF2-40B4-BE49-F238E27FC236}">
                <a16:creationId xmlns:a16="http://schemas.microsoft.com/office/drawing/2014/main" id="{36106E0B-D0AE-466F-AB27-26274B8BA0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4075FE-04C8-4491-9BE9-558DF5132226}"/>
              </a:ext>
            </a:extLst>
          </p:cNvPr>
          <p:cNvSpPr>
            <a:spLocks noGrp="1"/>
          </p:cNvSpPr>
          <p:nvPr>
            <p:ph type="sldNum" sz="quarter" idx="12"/>
          </p:nvPr>
        </p:nvSpPr>
        <p:spPr/>
        <p:txBody>
          <a:bodyPr/>
          <a:lstStyle/>
          <a:p>
            <a:fld id="{BEEA6677-05C1-4C71-9CD1-42C911AFFCC7}" type="slidenum">
              <a:rPr lang="en-US" smtClean="0"/>
              <a:t>‹#›</a:t>
            </a:fld>
            <a:endParaRPr lang="en-US"/>
          </a:p>
        </p:txBody>
      </p:sp>
    </p:spTree>
    <p:extLst>
      <p:ext uri="{BB962C8B-B14F-4D97-AF65-F5344CB8AC3E}">
        <p14:creationId xmlns:p14="http://schemas.microsoft.com/office/powerpoint/2010/main" val="3239689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18B3E0-0604-4FFB-9C4B-A3728713AB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FA7143-B00D-4A5A-B320-438EB88463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FEB483-540F-4C34-B60B-648D8CFB9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E663CF-8B43-4910-9912-72D5C277438F}" type="datetimeFigureOut">
              <a:rPr lang="en-US" smtClean="0"/>
              <a:t>2/16/2021</a:t>
            </a:fld>
            <a:endParaRPr lang="en-US"/>
          </a:p>
        </p:txBody>
      </p:sp>
      <p:sp>
        <p:nvSpPr>
          <p:cNvPr id="5" name="Footer Placeholder 4">
            <a:extLst>
              <a:ext uri="{FF2B5EF4-FFF2-40B4-BE49-F238E27FC236}">
                <a16:creationId xmlns:a16="http://schemas.microsoft.com/office/drawing/2014/main" id="{8DD6B4F7-AEC7-4E49-894F-F81D4481AB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4BC7FC-9283-45DE-B73C-3CF20FBE98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EA6677-05C1-4C71-9CD1-42C911AFFCC7}" type="slidenum">
              <a:rPr lang="en-US" smtClean="0"/>
              <a:t>‹#›</a:t>
            </a:fld>
            <a:endParaRPr lang="en-US"/>
          </a:p>
        </p:txBody>
      </p:sp>
    </p:spTree>
    <p:extLst>
      <p:ext uri="{BB962C8B-B14F-4D97-AF65-F5344CB8AC3E}">
        <p14:creationId xmlns:p14="http://schemas.microsoft.com/office/powerpoint/2010/main" val="794732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a:extLst>
              <a:ext uri="{FF2B5EF4-FFF2-40B4-BE49-F238E27FC236}">
                <a16:creationId xmlns:a16="http://schemas.microsoft.com/office/drawing/2014/main" id="{565C5B47-E497-4810-A44E-49BC99F606F5}"/>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1" b="283"/>
          <a:stretch/>
        </p:blipFill>
        <p:spPr>
          <a:xfrm>
            <a:off x="20" y="-22"/>
            <a:ext cx="12191977" cy="6858022"/>
          </a:xfrm>
          <a:prstGeom prst="rect">
            <a:avLst/>
          </a:prstGeom>
        </p:spPr>
      </p:pic>
      <p:sp>
        <p:nvSpPr>
          <p:cNvPr id="11" name="Rectangle 10">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B45EB6-F491-4AA1-81E4-A0765C53804F}"/>
              </a:ext>
            </a:extLst>
          </p:cNvPr>
          <p:cNvSpPr>
            <a:spLocks noGrp="1"/>
          </p:cNvSpPr>
          <p:nvPr>
            <p:ph type="ctrTitle"/>
          </p:nvPr>
        </p:nvSpPr>
        <p:spPr>
          <a:xfrm>
            <a:off x="643466" y="643467"/>
            <a:ext cx="5452529" cy="3569242"/>
          </a:xfrm>
        </p:spPr>
        <p:txBody>
          <a:bodyPr anchor="t">
            <a:normAutofit/>
          </a:bodyPr>
          <a:lstStyle/>
          <a:p>
            <a:pPr algn="l"/>
            <a:r>
              <a:rPr lang="en-US" sz="4800" dirty="0">
                <a:solidFill>
                  <a:srgbClr val="FFFFFF"/>
                </a:solidFill>
              </a:rPr>
              <a:t>Predicting the Students Enrollments Based on the Educational Financing</a:t>
            </a:r>
          </a:p>
        </p:txBody>
      </p:sp>
      <p:sp>
        <p:nvSpPr>
          <p:cNvPr id="3" name="Subtitle 2">
            <a:extLst>
              <a:ext uri="{FF2B5EF4-FFF2-40B4-BE49-F238E27FC236}">
                <a16:creationId xmlns:a16="http://schemas.microsoft.com/office/drawing/2014/main" id="{73344CD3-B0B3-4C59-A0B5-F911C3DB3DCD}"/>
              </a:ext>
            </a:extLst>
          </p:cNvPr>
          <p:cNvSpPr>
            <a:spLocks noGrp="1"/>
          </p:cNvSpPr>
          <p:nvPr>
            <p:ph type="subTitle" idx="1"/>
          </p:nvPr>
        </p:nvSpPr>
        <p:spPr>
          <a:xfrm>
            <a:off x="643466" y="4551037"/>
            <a:ext cx="5449479" cy="1578054"/>
          </a:xfrm>
        </p:spPr>
        <p:txBody>
          <a:bodyPr anchor="b">
            <a:normAutofit/>
          </a:bodyPr>
          <a:lstStyle/>
          <a:p>
            <a:pPr algn="l"/>
            <a:r>
              <a:rPr lang="en-US" sz="2000">
                <a:solidFill>
                  <a:srgbClr val="FFFFFF"/>
                </a:solidFill>
              </a:rPr>
              <a:t>General Assembly</a:t>
            </a:r>
          </a:p>
          <a:p>
            <a:pPr algn="l"/>
            <a:r>
              <a:rPr lang="en-US" sz="2000">
                <a:solidFill>
                  <a:srgbClr val="FFFFFF"/>
                </a:solidFill>
              </a:rPr>
              <a:t>Yu Zhang</a:t>
            </a:r>
          </a:p>
          <a:p>
            <a:pPr algn="l"/>
            <a:r>
              <a:rPr lang="en-US" sz="2000">
                <a:solidFill>
                  <a:srgbClr val="FFFFFF"/>
                </a:solidFill>
              </a:rPr>
              <a:t>Seattle Public Schools </a:t>
            </a:r>
          </a:p>
          <a:p>
            <a:pPr algn="l"/>
            <a:r>
              <a:rPr lang="en-US" sz="2000">
                <a:solidFill>
                  <a:srgbClr val="FFFFFF"/>
                </a:solidFill>
              </a:rPr>
              <a:t>yuzhang1@seattleschools.org</a:t>
            </a:r>
          </a:p>
        </p:txBody>
      </p:sp>
      <p:sp>
        <p:nvSpPr>
          <p:cNvPr id="13" name="Rectangle 12">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617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3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The back of a school bus&#10;&#10;Description automatically generated">
            <a:extLst>
              <a:ext uri="{FF2B5EF4-FFF2-40B4-BE49-F238E27FC236}">
                <a16:creationId xmlns:a16="http://schemas.microsoft.com/office/drawing/2014/main" id="{8E312D58-D446-4E5D-8FFB-DE5A34EE71D8}"/>
              </a:ext>
            </a:extLst>
          </p:cNvPr>
          <p:cNvPicPr>
            <a:picLocks noChangeAspect="1"/>
          </p:cNvPicPr>
          <p:nvPr/>
        </p:nvPicPr>
        <p:blipFill rotWithShape="1">
          <a:blip r:embed="rId2">
            <a:alphaModFix/>
            <a:extLst>
              <a:ext uri="{28A0092B-C50C-407E-A947-70E740481C1C}">
                <a14:useLocalDpi xmlns:a14="http://schemas.microsoft.com/office/drawing/2010/main" val="0"/>
              </a:ext>
            </a:extLst>
          </a:blip>
          <a:srcRect l="21356" r="16408" b="-1"/>
          <a:stretch/>
        </p:blipFill>
        <p:spPr>
          <a:xfrm>
            <a:off x="7383125" y="1700612"/>
            <a:ext cx="4808569" cy="5157387"/>
          </a:xfrm>
          <a:prstGeom prst="rect">
            <a:avLst/>
          </a:prstGeom>
        </p:spPr>
      </p:pic>
      <p:pic>
        <p:nvPicPr>
          <p:cNvPr id="10" name="Picture 9">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a:extLst>
              <a:ext uri="{FF2B5EF4-FFF2-40B4-BE49-F238E27FC236}">
                <a16:creationId xmlns:a16="http://schemas.microsoft.com/office/drawing/2014/main" id="{F7336817-81BD-4371-8F73-4A0DB95E7B22}"/>
              </a:ext>
            </a:extLst>
          </p:cNvPr>
          <p:cNvSpPr>
            <a:spLocks noGrp="1"/>
          </p:cNvSpPr>
          <p:nvPr>
            <p:ph type="title"/>
          </p:nvPr>
        </p:nvSpPr>
        <p:spPr>
          <a:xfrm>
            <a:off x="804998" y="798445"/>
            <a:ext cx="4803636" cy="1311664"/>
          </a:xfrm>
        </p:spPr>
        <p:txBody>
          <a:bodyPr>
            <a:normAutofit/>
          </a:bodyPr>
          <a:lstStyle/>
          <a:p>
            <a:r>
              <a:rPr lang="en-US">
                <a:solidFill>
                  <a:srgbClr val="000000"/>
                </a:solidFill>
              </a:rPr>
              <a:t>Statement of the Problems</a:t>
            </a:r>
          </a:p>
        </p:txBody>
      </p:sp>
      <p:sp>
        <p:nvSpPr>
          <p:cNvPr id="3" name="Content Placeholder 2">
            <a:extLst>
              <a:ext uri="{FF2B5EF4-FFF2-40B4-BE49-F238E27FC236}">
                <a16:creationId xmlns:a16="http://schemas.microsoft.com/office/drawing/2014/main" id="{3ED2D98F-FAED-4041-A889-DDD63A5E86F8}"/>
              </a:ext>
            </a:extLst>
          </p:cNvPr>
          <p:cNvSpPr>
            <a:spLocks noGrp="1"/>
          </p:cNvSpPr>
          <p:nvPr>
            <p:ph idx="1"/>
          </p:nvPr>
        </p:nvSpPr>
        <p:spPr>
          <a:xfrm>
            <a:off x="804997" y="2110109"/>
            <a:ext cx="5946181" cy="3950864"/>
          </a:xfrm>
        </p:spPr>
        <p:txBody>
          <a:bodyPr anchor="ctr">
            <a:normAutofit lnSpcReduction="10000"/>
          </a:bodyPr>
          <a:lstStyle/>
          <a:p>
            <a:r>
              <a:rPr lang="en-US" sz="1400" dirty="0">
                <a:solidFill>
                  <a:srgbClr val="000000"/>
                </a:solidFill>
                <a:latin typeface="Calibri" panose="020F0502020204030204" pitchFamily="34" charset="0"/>
                <a:cs typeface="Calibri" panose="020F0502020204030204" pitchFamily="34" charset="0"/>
              </a:rPr>
              <a:t>S</a:t>
            </a:r>
            <a:r>
              <a:rPr lang="en-US" sz="1400" b="0" i="0" u="none" strike="noStrike" baseline="0" dirty="0">
                <a:solidFill>
                  <a:srgbClr val="000000"/>
                </a:solidFill>
                <a:latin typeface="Calibri" panose="020F0502020204030204" pitchFamily="34" charset="0"/>
                <a:cs typeface="Calibri" panose="020F0502020204030204" pitchFamily="34" charset="0"/>
              </a:rPr>
              <a:t>chool district organization by strategic planning concern the elementary student attrition and retention, and student enrollment are highly related to the financing management activities; </a:t>
            </a:r>
          </a:p>
          <a:p>
            <a:r>
              <a:rPr lang="en-US" sz="1400" b="0" i="0" u="none" strike="noStrike" baseline="0" dirty="0">
                <a:solidFill>
                  <a:srgbClr val="000000"/>
                </a:solidFill>
                <a:latin typeface="Calibri" panose="020F0502020204030204" pitchFamily="34" charset="0"/>
                <a:cs typeface="Calibri" panose="020F0502020204030204" pitchFamily="34" charset="0"/>
              </a:rPr>
              <a:t>The institutional support on the enrollment concerns that the secondary school student graduation college choice, the transition to colleges are related to the allocation of financial aid and </a:t>
            </a:r>
            <a:r>
              <a:rPr lang="en-US" sz="1400" dirty="0">
                <a:solidFill>
                  <a:srgbClr val="000000"/>
                </a:solidFill>
                <a:latin typeface="Calibri" panose="020F0502020204030204" pitchFamily="34" charset="0"/>
                <a:cs typeface="Calibri" panose="020F0502020204030204" pitchFamily="34" charset="0"/>
              </a:rPr>
              <a:t>large expenditure of </a:t>
            </a:r>
            <a:r>
              <a:rPr lang="en-US" sz="1400" b="0" i="0" u="none" strike="noStrike" baseline="0" dirty="0">
                <a:solidFill>
                  <a:srgbClr val="000000"/>
                </a:solidFill>
                <a:latin typeface="Calibri" panose="020F0502020204030204" pitchFamily="34" charset="0"/>
                <a:cs typeface="Calibri" panose="020F0502020204030204" pitchFamily="34" charset="0"/>
              </a:rPr>
              <a:t>awards.</a:t>
            </a:r>
          </a:p>
          <a:p>
            <a:r>
              <a:rPr lang="en-US" sz="1400" b="0" i="0" u="none" strike="noStrike" baseline="0" dirty="0">
                <a:solidFill>
                  <a:srgbClr val="000000"/>
                </a:solidFill>
                <a:latin typeface="Calibri" panose="020F0502020204030204" pitchFamily="34" charset="0"/>
                <a:cs typeface="Calibri" panose="020F0502020204030204" pitchFamily="34" charset="0"/>
              </a:rPr>
              <a:t>Considering the state, federal revenue and spending on instruction, this research explores different factors that presumably influence the enrollment amount of the school districts. </a:t>
            </a:r>
          </a:p>
          <a:p>
            <a:r>
              <a:rPr lang="en-US" sz="1400" b="0" i="0" u="none" strike="noStrike" baseline="0" dirty="0">
                <a:solidFill>
                  <a:srgbClr val="000000"/>
                </a:solidFill>
                <a:latin typeface="Calibri" panose="020F0502020204030204" pitchFamily="34" charset="0"/>
                <a:cs typeface="Calibri" panose="020F0502020204030204" pitchFamily="34" charset="0"/>
              </a:rPr>
              <a:t>This work intends to provide decision-makers in the enrollment management administration a better understanding of the factors that are highly correlated to the enrollment capacity.</a:t>
            </a:r>
          </a:p>
          <a:p>
            <a:r>
              <a:rPr lang="en-US" sz="1400" b="0" i="0" u="none" strike="noStrike" baseline="0" dirty="0">
                <a:solidFill>
                  <a:srgbClr val="000000"/>
                </a:solidFill>
                <a:latin typeface="Calibri" panose="020F0502020204030204" pitchFamily="34" charset="0"/>
                <a:cs typeface="Calibri" panose="020F0502020204030204" pitchFamily="34" charset="0"/>
              </a:rPr>
              <a:t>We validate our methods using real data of NAEP (National Assessment of Educational Progress) data and Educational financing data from the National Finance Census (National Center for Educational Statistics).</a:t>
            </a:r>
          </a:p>
          <a:p>
            <a:r>
              <a:rPr lang="en-US" sz="1400" b="0" i="0" u="none" strike="noStrike" baseline="0" dirty="0">
                <a:solidFill>
                  <a:srgbClr val="000000"/>
                </a:solidFill>
                <a:latin typeface="Calibri" panose="020F0502020204030204" pitchFamily="34" charset="0"/>
                <a:cs typeface="Calibri" panose="020F0502020204030204" pitchFamily="34" charset="0"/>
              </a:rPr>
              <a:t>Linear regression (LR) and predict the enrollment of district and K-nearest Neighbor (KNN) on cohort levels.</a:t>
            </a:r>
            <a:endParaRPr lang="en-US" sz="1400" dirty="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28806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7F6FD6-9617-4419-900E-AB491C116360}"/>
              </a:ext>
            </a:extLst>
          </p:cNvPr>
          <p:cNvSpPr>
            <a:spLocks noGrp="1"/>
          </p:cNvSpPr>
          <p:nvPr>
            <p:ph type="title"/>
          </p:nvPr>
        </p:nvSpPr>
        <p:spPr>
          <a:xfrm>
            <a:off x="635000" y="640823"/>
            <a:ext cx="3418659" cy="5583148"/>
          </a:xfrm>
        </p:spPr>
        <p:txBody>
          <a:bodyPr anchor="ctr">
            <a:normAutofit/>
          </a:bodyPr>
          <a:lstStyle/>
          <a:p>
            <a:r>
              <a:rPr lang="en-US" sz="5400" dirty="0"/>
              <a:t>Research Questions</a:t>
            </a:r>
          </a:p>
        </p:txBody>
      </p:sp>
      <p:sp>
        <p:nvSpPr>
          <p:cNvPr id="43"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7" name="Content Placeholder 2">
            <a:extLst>
              <a:ext uri="{FF2B5EF4-FFF2-40B4-BE49-F238E27FC236}">
                <a16:creationId xmlns:a16="http://schemas.microsoft.com/office/drawing/2014/main" id="{3F57174B-1213-4F7D-885C-D125408A0684}"/>
              </a:ext>
            </a:extLst>
          </p:cNvPr>
          <p:cNvGraphicFramePr>
            <a:graphicFrameLocks noGrp="1"/>
          </p:cNvGraphicFramePr>
          <p:nvPr>
            <p:ph idx="1"/>
            <p:extLst>
              <p:ext uri="{D42A27DB-BD31-4B8C-83A1-F6EECF244321}">
                <p14:modId xmlns:p14="http://schemas.microsoft.com/office/powerpoint/2010/main" val="299914696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1620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66DAC9-285A-4830-A8C1-53CF0EE1C1DF}"/>
              </a:ext>
            </a:extLst>
          </p:cNvPr>
          <p:cNvSpPr>
            <a:spLocks noGrp="1"/>
          </p:cNvSpPr>
          <p:nvPr>
            <p:ph type="title"/>
          </p:nvPr>
        </p:nvSpPr>
        <p:spPr>
          <a:xfrm>
            <a:off x="841248" y="256032"/>
            <a:ext cx="10506456" cy="1014984"/>
          </a:xfrm>
        </p:spPr>
        <p:txBody>
          <a:bodyPr anchor="b">
            <a:normAutofit/>
          </a:bodyPr>
          <a:lstStyle/>
          <a:p>
            <a:r>
              <a:rPr lang="en-US" dirty="0"/>
              <a:t>Metrics and Feature Description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Table 4">
            <a:extLst>
              <a:ext uri="{FF2B5EF4-FFF2-40B4-BE49-F238E27FC236}">
                <a16:creationId xmlns:a16="http://schemas.microsoft.com/office/drawing/2014/main" id="{414FC2EF-A445-4F06-BFB7-AAA8344226EA}"/>
              </a:ext>
            </a:extLst>
          </p:cNvPr>
          <p:cNvGraphicFramePr>
            <a:graphicFrameLocks noGrp="1"/>
          </p:cNvGraphicFramePr>
          <p:nvPr>
            <p:ph idx="1"/>
            <p:extLst>
              <p:ext uri="{D42A27DB-BD31-4B8C-83A1-F6EECF244321}">
                <p14:modId xmlns:p14="http://schemas.microsoft.com/office/powerpoint/2010/main" val="3847748221"/>
              </p:ext>
            </p:extLst>
          </p:nvPr>
        </p:nvGraphicFramePr>
        <p:xfrm>
          <a:off x="1177369" y="2607073"/>
          <a:ext cx="9837260" cy="3994895"/>
        </p:xfrm>
        <a:graphic>
          <a:graphicData uri="http://schemas.openxmlformats.org/drawingml/2006/table">
            <a:tbl>
              <a:tblPr firstRow="1" bandRow="1">
                <a:tableStyleId>{5C22544A-7EE6-4342-B048-85BDC9FD1C3A}</a:tableStyleId>
              </a:tblPr>
              <a:tblGrid>
                <a:gridCol w="3332868">
                  <a:extLst>
                    <a:ext uri="{9D8B030D-6E8A-4147-A177-3AD203B41FA5}">
                      <a16:colId xmlns:a16="http://schemas.microsoft.com/office/drawing/2014/main" val="1756235819"/>
                    </a:ext>
                  </a:extLst>
                </a:gridCol>
                <a:gridCol w="4650959">
                  <a:extLst>
                    <a:ext uri="{9D8B030D-6E8A-4147-A177-3AD203B41FA5}">
                      <a16:colId xmlns:a16="http://schemas.microsoft.com/office/drawing/2014/main" val="3077853932"/>
                    </a:ext>
                  </a:extLst>
                </a:gridCol>
                <a:gridCol w="1853433">
                  <a:extLst>
                    <a:ext uri="{9D8B030D-6E8A-4147-A177-3AD203B41FA5}">
                      <a16:colId xmlns:a16="http://schemas.microsoft.com/office/drawing/2014/main" val="815143361"/>
                    </a:ext>
                  </a:extLst>
                </a:gridCol>
              </a:tblGrid>
              <a:tr h="245495">
                <a:tc>
                  <a:txBody>
                    <a:bodyPr/>
                    <a:lstStyle/>
                    <a:p>
                      <a:r>
                        <a:rPr lang="en-US" sz="1200" dirty="0"/>
                        <a:t>Features</a:t>
                      </a:r>
                    </a:p>
                  </a:txBody>
                  <a:tcPr marL="65757" marR="65757" marT="32879" marB="32879"/>
                </a:tc>
                <a:tc>
                  <a:txBody>
                    <a:bodyPr/>
                    <a:lstStyle/>
                    <a:p>
                      <a:r>
                        <a:rPr lang="en-US" sz="1200" dirty="0"/>
                        <a:t>Description</a:t>
                      </a:r>
                    </a:p>
                  </a:txBody>
                  <a:tcPr marL="65757" marR="65757" marT="32879" marB="32879"/>
                </a:tc>
                <a:tc>
                  <a:txBody>
                    <a:bodyPr/>
                    <a:lstStyle/>
                    <a:p>
                      <a:r>
                        <a:rPr lang="en-US" sz="1200" dirty="0"/>
                        <a:t>Feature Selection</a:t>
                      </a:r>
                    </a:p>
                  </a:txBody>
                  <a:tcPr marL="65757" marR="65757" marT="32879" marB="32879"/>
                </a:tc>
                <a:extLst>
                  <a:ext uri="{0D108BD9-81ED-4DB2-BD59-A6C34878D82A}">
                    <a16:rowId xmlns:a16="http://schemas.microsoft.com/office/drawing/2014/main" val="1453710408"/>
                  </a:ext>
                </a:extLst>
              </a:tr>
              <a:tr h="245495">
                <a:tc>
                  <a:txBody>
                    <a:bodyPr/>
                    <a:lstStyle/>
                    <a:p>
                      <a:r>
                        <a:rPr lang="en-US" sz="1200" b="0" i="0" u="none" strike="noStrike" kern="1200" baseline="0">
                          <a:solidFill>
                            <a:schemeClr val="dk1"/>
                          </a:solidFill>
                          <a:latin typeface="+mn-lt"/>
                          <a:ea typeface="+mn-ea"/>
                          <a:cs typeface="+mn-cs"/>
                        </a:rPr>
                        <a:t>Total elementary-secondary revenue </a:t>
                      </a:r>
                    </a:p>
                  </a:txBody>
                  <a:tcPr marL="65757" marR="65757" marT="32879" marB="32879"/>
                </a:tc>
                <a:tc>
                  <a:txBody>
                    <a:bodyPr/>
                    <a:lstStyle/>
                    <a:p>
                      <a:r>
                        <a:rPr lang="en-US" sz="1200" dirty="0"/>
                        <a:t>Sum of </a:t>
                      </a:r>
                      <a:r>
                        <a:rPr lang="en-US" sz="1200" b="0" i="0" u="none" strike="noStrike" kern="1200" baseline="0" dirty="0">
                          <a:solidFill>
                            <a:schemeClr val="dk1"/>
                          </a:solidFill>
                          <a:latin typeface="+mn-lt"/>
                          <a:ea typeface="+mn-ea"/>
                          <a:cs typeface="+mn-cs"/>
                        </a:rPr>
                        <a:t>Revenue from Federal, State, Local Sources </a:t>
                      </a:r>
                      <a:endParaRPr lang="en-US" sz="1200" dirty="0"/>
                    </a:p>
                  </a:txBody>
                  <a:tcPr marL="65757" marR="65757" marT="32879" marB="32879"/>
                </a:tc>
                <a:tc>
                  <a:txBody>
                    <a:bodyPr/>
                    <a:lstStyle/>
                    <a:p>
                      <a:r>
                        <a:rPr lang="en-US" sz="1200"/>
                        <a:t>*</a:t>
                      </a:r>
                    </a:p>
                  </a:txBody>
                  <a:tcPr marL="65757" marR="65757" marT="32879" marB="32879"/>
                </a:tc>
                <a:extLst>
                  <a:ext uri="{0D108BD9-81ED-4DB2-BD59-A6C34878D82A}">
                    <a16:rowId xmlns:a16="http://schemas.microsoft.com/office/drawing/2014/main" val="3749080915"/>
                  </a:ext>
                </a:extLst>
              </a:tr>
              <a:tr h="420019">
                <a:tc>
                  <a:txBody>
                    <a:bodyPr/>
                    <a:lstStyle/>
                    <a:p>
                      <a:r>
                        <a:rPr lang="en-US" sz="1200" b="0" i="0" u="none" strike="noStrike" kern="1200" baseline="0" dirty="0">
                          <a:solidFill>
                            <a:schemeClr val="dk1"/>
                          </a:solidFill>
                          <a:latin typeface="+mn-lt"/>
                          <a:ea typeface="+mn-ea"/>
                          <a:cs typeface="+mn-cs"/>
                        </a:rPr>
                        <a:t>Total Revenue from Federal Sources </a:t>
                      </a:r>
                    </a:p>
                  </a:txBody>
                  <a:tcPr marL="65757" marR="65757" marT="32879" marB="32879"/>
                </a:tc>
                <a:tc>
                  <a:txBody>
                    <a:bodyPr/>
                    <a:lstStyle/>
                    <a:p>
                      <a:pPr marL="285750" indent="-285750">
                        <a:buFont typeface="Arial" panose="020B0604020202020204" pitchFamily="34" charset="0"/>
                        <a:buChar char="•"/>
                      </a:pPr>
                      <a:r>
                        <a:rPr lang="en-US" sz="1200" b="0" i="0" u="none" strike="noStrike" kern="1200" baseline="0" dirty="0">
                          <a:solidFill>
                            <a:schemeClr val="dk1"/>
                          </a:solidFill>
                          <a:latin typeface="+mn-lt"/>
                          <a:ea typeface="+mn-ea"/>
                          <a:cs typeface="+mn-cs"/>
                        </a:rPr>
                        <a:t>Compensatory (Title I) </a:t>
                      </a:r>
                    </a:p>
                    <a:p>
                      <a:pPr marL="285750" indent="-285750">
                        <a:buFont typeface="Arial" panose="020B0604020202020204" pitchFamily="34" charset="0"/>
                        <a:buChar char="•"/>
                      </a:pPr>
                      <a:r>
                        <a:rPr lang="en-US" sz="1200" b="0" i="0" u="none" strike="noStrike" kern="1200" baseline="0" dirty="0">
                          <a:solidFill>
                            <a:schemeClr val="dk1"/>
                          </a:solidFill>
                          <a:latin typeface="+mn-lt"/>
                          <a:ea typeface="+mn-ea"/>
                          <a:cs typeface="+mn-cs"/>
                        </a:rPr>
                        <a:t>federal aid </a:t>
                      </a:r>
                    </a:p>
                  </a:txBody>
                  <a:tcPr marL="65757" marR="65757" marT="32879" marB="32879"/>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t>
                      </a:r>
                    </a:p>
                    <a:p>
                      <a:endParaRPr lang="en-US" sz="1200"/>
                    </a:p>
                  </a:txBody>
                  <a:tcPr marL="65757" marR="65757" marT="32879" marB="32879"/>
                </a:tc>
                <a:extLst>
                  <a:ext uri="{0D108BD9-81ED-4DB2-BD59-A6C34878D82A}">
                    <a16:rowId xmlns:a16="http://schemas.microsoft.com/office/drawing/2014/main" val="3788078042"/>
                  </a:ext>
                </a:extLst>
              </a:tr>
              <a:tr h="705797">
                <a:tc>
                  <a:txBody>
                    <a:bodyPr/>
                    <a:lstStyle/>
                    <a:p>
                      <a:r>
                        <a:rPr lang="en-US" sz="1200" b="0" i="0" u="none" strike="noStrike" kern="1200" baseline="0">
                          <a:solidFill>
                            <a:schemeClr val="dk1"/>
                          </a:solidFill>
                          <a:latin typeface="+mn-lt"/>
                          <a:ea typeface="+mn-ea"/>
                          <a:cs typeface="+mn-cs"/>
                        </a:rPr>
                        <a:t>Total Revenue from State Sources</a:t>
                      </a:r>
                    </a:p>
                  </a:txBody>
                  <a:tcPr marL="65757" marR="65757" marT="32879" marB="32879"/>
                </a:tc>
                <a:tc>
                  <a:txBody>
                    <a:bodyPr/>
                    <a:lstStyle/>
                    <a:p>
                      <a:pPr marL="285750" indent="-285750">
                        <a:buFont typeface="Arial" panose="020B0604020202020204" pitchFamily="34" charset="0"/>
                        <a:buChar char="•"/>
                      </a:pPr>
                      <a:r>
                        <a:rPr lang="en-US" sz="1200" b="0" i="0" u="none" strike="noStrike" kern="1200" baseline="0" dirty="0">
                          <a:solidFill>
                            <a:schemeClr val="dk1"/>
                          </a:solidFill>
                          <a:latin typeface="+mn-lt"/>
                          <a:ea typeface="+mn-ea"/>
                          <a:cs typeface="+mn-cs"/>
                        </a:rPr>
                        <a:t>General formula assistance </a:t>
                      </a:r>
                    </a:p>
                    <a:p>
                      <a:pPr marL="285750" indent="-285750">
                        <a:buFont typeface="Arial" panose="020B0604020202020204" pitchFamily="34" charset="0"/>
                        <a:buChar char="•"/>
                      </a:pPr>
                      <a:r>
                        <a:rPr lang="en-US" sz="1200" b="0" i="0" u="none" strike="noStrike" kern="1200" baseline="0" dirty="0">
                          <a:solidFill>
                            <a:schemeClr val="dk1"/>
                          </a:solidFill>
                          <a:latin typeface="+mn-lt"/>
                          <a:ea typeface="+mn-ea"/>
                          <a:cs typeface="+mn-cs"/>
                        </a:rPr>
                        <a:t>Special education programs </a:t>
                      </a:r>
                    </a:p>
                    <a:p>
                      <a:pPr marL="285750" indent="-285750">
                        <a:buFont typeface="Arial" panose="020B0604020202020204" pitchFamily="34" charset="0"/>
                        <a:buChar char="•"/>
                      </a:pPr>
                      <a:r>
                        <a:rPr lang="en-US" sz="1200" b="0" i="0" u="none" strike="noStrike" kern="1200" baseline="0" dirty="0">
                          <a:solidFill>
                            <a:schemeClr val="dk1"/>
                          </a:solidFill>
                          <a:latin typeface="+mn-lt"/>
                          <a:ea typeface="+mn-ea"/>
                          <a:cs typeface="+mn-cs"/>
                        </a:rPr>
                        <a:t>Transportation programs ……</a:t>
                      </a:r>
                    </a:p>
                  </a:txBody>
                  <a:tcPr marL="65757" marR="65757" marT="32879" marB="32879"/>
                </a:tc>
                <a:tc>
                  <a:txBody>
                    <a:bodyPr/>
                    <a:lstStyle/>
                    <a:p>
                      <a:endParaRPr lang="en-US" sz="1200"/>
                    </a:p>
                  </a:txBody>
                  <a:tcPr marL="65757" marR="65757" marT="32879" marB="32879"/>
                </a:tc>
                <a:extLst>
                  <a:ext uri="{0D108BD9-81ED-4DB2-BD59-A6C34878D82A}">
                    <a16:rowId xmlns:a16="http://schemas.microsoft.com/office/drawing/2014/main" val="2690435654"/>
                  </a:ext>
                </a:extLst>
              </a:tr>
              <a:tr h="999992">
                <a:tc>
                  <a:txBody>
                    <a:bodyPr/>
                    <a:lstStyle/>
                    <a:p>
                      <a:r>
                        <a:rPr lang="en-US" sz="1200" b="0" i="0" u="none" strike="noStrike" kern="1200" baseline="0">
                          <a:solidFill>
                            <a:schemeClr val="dk1"/>
                          </a:solidFill>
                          <a:latin typeface="+mn-lt"/>
                          <a:ea typeface="+mn-ea"/>
                          <a:cs typeface="+mn-cs"/>
                        </a:rPr>
                        <a:t>Total Revenue from Local Sources </a:t>
                      </a:r>
                    </a:p>
                  </a:txBody>
                  <a:tcPr marL="65757" marR="65757" marT="32879" marB="32879"/>
                </a:tc>
                <a:tc>
                  <a:txBody>
                    <a:bodyPr/>
                    <a:lstStyle/>
                    <a:p>
                      <a:pPr marL="285750" indent="-285750">
                        <a:buFont typeface="Arial" panose="020B0604020202020204" pitchFamily="34" charset="0"/>
                        <a:buChar char="•"/>
                      </a:pPr>
                      <a:r>
                        <a:rPr lang="en-US" sz="1200" b="0" i="0" u="none" strike="noStrike" kern="1200" baseline="0" dirty="0">
                          <a:solidFill>
                            <a:schemeClr val="dk1"/>
                          </a:solidFill>
                          <a:latin typeface="+mn-lt"/>
                          <a:ea typeface="+mn-ea"/>
                          <a:cs typeface="+mn-cs"/>
                        </a:rPr>
                        <a:t>All taxes </a:t>
                      </a:r>
                    </a:p>
                    <a:p>
                      <a:pPr marL="285750" indent="-285750">
                        <a:buFont typeface="Arial" panose="020B0604020202020204" pitchFamily="34" charset="0"/>
                        <a:buChar char="•"/>
                      </a:pPr>
                      <a:r>
                        <a:rPr lang="en-US" sz="1200" b="0" i="0" u="none" strike="noStrike" kern="1200" baseline="0" dirty="0">
                          <a:solidFill>
                            <a:schemeClr val="dk1"/>
                          </a:solidFill>
                          <a:latin typeface="+mn-lt"/>
                          <a:ea typeface="+mn-ea"/>
                          <a:cs typeface="+mn-cs"/>
                        </a:rPr>
                        <a:t>Property taxes </a:t>
                      </a:r>
                    </a:p>
                    <a:p>
                      <a:pPr marL="285750" indent="-285750">
                        <a:buFont typeface="Arial" panose="020B0604020202020204" pitchFamily="34" charset="0"/>
                        <a:buChar char="•"/>
                      </a:pPr>
                      <a:r>
                        <a:rPr lang="en-US" sz="1200" b="0" i="0" u="none" strike="noStrike" kern="1200" baseline="0" dirty="0">
                          <a:solidFill>
                            <a:schemeClr val="dk1"/>
                          </a:solidFill>
                          <a:latin typeface="+mn-lt"/>
                          <a:ea typeface="+mn-ea"/>
                          <a:cs typeface="+mn-cs"/>
                        </a:rPr>
                        <a:t>Parent government contributions </a:t>
                      </a:r>
                    </a:p>
                    <a:p>
                      <a:pPr marL="285750" indent="-285750">
                        <a:buFont typeface="Arial" panose="020B0604020202020204" pitchFamily="34" charset="0"/>
                        <a:buChar char="•"/>
                      </a:pPr>
                      <a:r>
                        <a:rPr lang="en-US" sz="1200" b="0" i="0" u="none" strike="noStrike" kern="1200" baseline="0" dirty="0">
                          <a:solidFill>
                            <a:schemeClr val="dk1"/>
                          </a:solidFill>
                          <a:latin typeface="+mn-lt"/>
                          <a:ea typeface="+mn-ea"/>
                          <a:cs typeface="+mn-cs"/>
                        </a:rPr>
                        <a:t>Revenue from other school systems </a:t>
                      </a:r>
                    </a:p>
                    <a:p>
                      <a:pPr marL="285750" indent="-285750">
                        <a:buFont typeface="Arial" panose="020B0604020202020204" pitchFamily="34" charset="0"/>
                        <a:buChar char="•"/>
                      </a:pPr>
                      <a:r>
                        <a:rPr lang="en-US" sz="1200" b="0" i="0" u="none" strike="noStrike" kern="1200" baseline="0" dirty="0">
                          <a:solidFill>
                            <a:schemeClr val="dk1"/>
                          </a:solidFill>
                          <a:latin typeface="+mn-lt"/>
                          <a:ea typeface="+mn-ea"/>
                          <a:cs typeface="+mn-cs"/>
                        </a:rPr>
                        <a:t>Charges</a:t>
                      </a:r>
                    </a:p>
                  </a:txBody>
                  <a:tcPr marL="65757" marR="65757" marT="32879" marB="32879"/>
                </a:tc>
                <a:tc>
                  <a:txBody>
                    <a:bodyPr/>
                    <a:lstStyle/>
                    <a:p>
                      <a:r>
                        <a:rPr lang="en-US" sz="1200"/>
                        <a:t>*</a:t>
                      </a:r>
                    </a:p>
                  </a:txBody>
                  <a:tcPr marL="65757" marR="65757" marT="32879" marB="32879"/>
                </a:tc>
                <a:extLst>
                  <a:ext uri="{0D108BD9-81ED-4DB2-BD59-A6C34878D82A}">
                    <a16:rowId xmlns:a16="http://schemas.microsoft.com/office/drawing/2014/main" val="2650947870"/>
                  </a:ext>
                </a:extLst>
              </a:tr>
              <a:tr h="245495">
                <a:tc>
                  <a:txBody>
                    <a:bodyPr/>
                    <a:lstStyle/>
                    <a:p>
                      <a:r>
                        <a:rPr lang="en-US" sz="1200" b="0" i="0" u="none" strike="noStrike" kern="1200" baseline="0">
                          <a:solidFill>
                            <a:schemeClr val="dk1"/>
                          </a:solidFill>
                          <a:latin typeface="+mn-lt"/>
                          <a:ea typeface="+mn-ea"/>
                          <a:cs typeface="+mn-cs"/>
                        </a:rPr>
                        <a:t>Total elementary-secondary expenditure </a:t>
                      </a:r>
                    </a:p>
                  </a:txBody>
                  <a:tcPr marL="65757" marR="65757" marT="32879" marB="32879"/>
                </a:tc>
                <a:tc>
                  <a:txBody>
                    <a:bodyPr/>
                    <a:lstStyle/>
                    <a:p>
                      <a:r>
                        <a:rPr lang="en-US" sz="1200"/>
                        <a:t>Sum of current spending, payment to the government, total capitals.</a:t>
                      </a:r>
                    </a:p>
                  </a:txBody>
                  <a:tcPr marL="65757" marR="65757" marT="32879" marB="32879"/>
                </a:tc>
                <a:tc>
                  <a:txBody>
                    <a:bodyPr/>
                    <a:lstStyle/>
                    <a:p>
                      <a:r>
                        <a:rPr lang="en-US" sz="1200"/>
                        <a:t>*</a:t>
                      </a:r>
                    </a:p>
                  </a:txBody>
                  <a:tcPr marL="65757" marR="65757" marT="32879" marB="32879"/>
                </a:tc>
                <a:extLst>
                  <a:ext uri="{0D108BD9-81ED-4DB2-BD59-A6C34878D82A}">
                    <a16:rowId xmlns:a16="http://schemas.microsoft.com/office/drawing/2014/main" val="687131224"/>
                  </a:ext>
                </a:extLst>
              </a:tr>
              <a:tr h="398929">
                <a:tc>
                  <a:txBody>
                    <a:bodyPr/>
                    <a:lstStyle/>
                    <a:p>
                      <a:r>
                        <a:rPr lang="en-US" sz="1200" b="0" i="0" u="none" strike="noStrike" kern="1200" baseline="0">
                          <a:solidFill>
                            <a:schemeClr val="dk1"/>
                          </a:solidFill>
                          <a:latin typeface="+mn-lt"/>
                          <a:ea typeface="+mn-ea"/>
                          <a:cs typeface="+mn-cs"/>
                        </a:rPr>
                        <a:t>Total Current Spending for Instruction </a:t>
                      </a:r>
                    </a:p>
                  </a:txBody>
                  <a:tcPr marL="65757" marR="65757" marT="32879" marB="32879"/>
                </a:tc>
                <a:tc>
                  <a:txBody>
                    <a:bodyPr/>
                    <a:lstStyle/>
                    <a:p>
                      <a:pPr marL="285750" indent="-285750">
                        <a:buFont typeface="Arial" panose="020B0604020202020204" pitchFamily="34" charset="0"/>
                        <a:buChar char="•"/>
                      </a:pPr>
                      <a:r>
                        <a:rPr lang="en-US" sz="1200" b="0" i="0" u="none" strike="noStrike" kern="1200" baseline="0">
                          <a:solidFill>
                            <a:schemeClr val="dk1"/>
                          </a:solidFill>
                          <a:latin typeface="+mn-lt"/>
                          <a:ea typeface="+mn-ea"/>
                          <a:cs typeface="+mn-cs"/>
                        </a:rPr>
                        <a:t>Total salaries and wages </a:t>
                      </a:r>
                    </a:p>
                    <a:p>
                      <a:pPr marL="285750" indent="-285750">
                        <a:buFont typeface="Arial" panose="020B0604020202020204" pitchFamily="34" charset="0"/>
                        <a:buChar char="•"/>
                      </a:pPr>
                      <a:r>
                        <a:rPr lang="en-US" sz="1200" b="0" i="0" u="none" strike="noStrike" kern="1200" baseline="0">
                          <a:solidFill>
                            <a:schemeClr val="dk1"/>
                          </a:solidFill>
                          <a:latin typeface="+mn-lt"/>
                          <a:ea typeface="+mn-ea"/>
                          <a:cs typeface="+mn-cs"/>
                        </a:rPr>
                        <a:t>Total employee benefit payments   </a:t>
                      </a:r>
                    </a:p>
                  </a:txBody>
                  <a:tcPr marL="65757" marR="65757" marT="32879" marB="32879"/>
                </a:tc>
                <a:tc>
                  <a:txBody>
                    <a:bodyPr/>
                    <a:lstStyle/>
                    <a:p>
                      <a:r>
                        <a:rPr lang="en-US" sz="1200"/>
                        <a:t>*</a:t>
                      </a:r>
                    </a:p>
                  </a:txBody>
                  <a:tcPr marL="65757" marR="65757" marT="32879" marB="32879"/>
                </a:tc>
                <a:extLst>
                  <a:ext uri="{0D108BD9-81ED-4DB2-BD59-A6C34878D82A}">
                    <a16:rowId xmlns:a16="http://schemas.microsoft.com/office/drawing/2014/main" val="378235092"/>
                  </a:ext>
                </a:extLst>
              </a:tr>
              <a:tr h="398929">
                <a:tc>
                  <a:txBody>
                    <a:bodyPr/>
                    <a:lstStyle/>
                    <a:p>
                      <a:r>
                        <a:rPr lang="en-US" sz="1200" b="0" i="0" u="none" strike="noStrike" kern="1200" baseline="0">
                          <a:solidFill>
                            <a:schemeClr val="dk1"/>
                          </a:solidFill>
                          <a:latin typeface="+mn-lt"/>
                          <a:ea typeface="+mn-ea"/>
                          <a:cs typeface="+mn-cs"/>
                        </a:rPr>
                        <a:t>Other Current Spending </a:t>
                      </a:r>
                    </a:p>
                  </a:txBody>
                  <a:tcPr marL="65757" marR="65757" marT="32879" marB="32879"/>
                </a:tc>
                <a:tc>
                  <a:txBody>
                    <a:bodyPr/>
                    <a:lstStyle/>
                    <a:p>
                      <a:pPr marL="285750" indent="-285750">
                        <a:buFont typeface="Arial" panose="020B0604020202020204" pitchFamily="34" charset="0"/>
                        <a:buChar char="•"/>
                      </a:pPr>
                      <a:r>
                        <a:rPr lang="en-US" sz="1200" b="0" i="0" u="none" strike="noStrike" kern="1200" baseline="0">
                          <a:solidFill>
                            <a:schemeClr val="dk1"/>
                          </a:solidFill>
                          <a:latin typeface="+mn-lt"/>
                          <a:ea typeface="+mn-ea"/>
                          <a:cs typeface="+mn-cs"/>
                        </a:rPr>
                        <a:t>Salaries and wages for instruction </a:t>
                      </a:r>
                    </a:p>
                    <a:p>
                      <a:pPr marL="285750" indent="-285750">
                        <a:buFont typeface="Arial" panose="020B0604020202020204" pitchFamily="34" charset="0"/>
                        <a:buChar char="•"/>
                      </a:pPr>
                      <a:r>
                        <a:rPr lang="en-US" sz="1200" b="0" i="0" u="none" strike="noStrike" kern="1200" baseline="0">
                          <a:solidFill>
                            <a:schemeClr val="dk1"/>
                          </a:solidFill>
                          <a:latin typeface="+mn-lt"/>
                          <a:ea typeface="+mn-ea"/>
                          <a:cs typeface="+mn-cs"/>
                        </a:rPr>
                        <a:t>Employee benefits for instruction </a:t>
                      </a:r>
                    </a:p>
                  </a:txBody>
                  <a:tcPr marL="65757" marR="65757" marT="32879" marB="32879"/>
                </a:tc>
                <a:tc>
                  <a:txBody>
                    <a:bodyPr/>
                    <a:lstStyle/>
                    <a:p>
                      <a:r>
                        <a:rPr lang="en-US" sz="1200"/>
                        <a:t>*</a:t>
                      </a:r>
                    </a:p>
                  </a:txBody>
                  <a:tcPr marL="65757" marR="65757" marT="32879" marB="32879"/>
                </a:tc>
                <a:extLst>
                  <a:ext uri="{0D108BD9-81ED-4DB2-BD59-A6C34878D82A}">
                    <a16:rowId xmlns:a16="http://schemas.microsoft.com/office/drawing/2014/main" val="1139040484"/>
                  </a:ext>
                </a:extLst>
              </a:tr>
              <a:tr h="245495">
                <a:tc>
                  <a:txBody>
                    <a:bodyPr/>
                    <a:lstStyle/>
                    <a:p>
                      <a:r>
                        <a:rPr lang="en-US" sz="1200" b="0" i="0" u="none" strike="noStrike" kern="1200" baseline="0">
                          <a:solidFill>
                            <a:schemeClr val="dk1"/>
                          </a:solidFill>
                          <a:latin typeface="+mn-lt"/>
                          <a:ea typeface="+mn-ea"/>
                          <a:cs typeface="+mn-cs"/>
                        </a:rPr>
                        <a:t>Total Capital Outlay Expenditure </a:t>
                      </a:r>
                    </a:p>
                  </a:txBody>
                  <a:tcPr marL="65757" marR="65757" marT="32879" marB="32879"/>
                </a:tc>
                <a:tc>
                  <a:txBody>
                    <a:bodyPr/>
                    <a:lstStyle/>
                    <a:p>
                      <a:endParaRPr lang="en-US" sz="1200"/>
                    </a:p>
                  </a:txBody>
                  <a:tcPr marL="65757" marR="65757" marT="32879" marB="32879"/>
                </a:tc>
                <a:tc>
                  <a:txBody>
                    <a:bodyPr/>
                    <a:lstStyle/>
                    <a:p>
                      <a:endParaRPr lang="en-US" sz="1200" dirty="0"/>
                    </a:p>
                  </a:txBody>
                  <a:tcPr marL="65757" marR="65757" marT="32879" marB="32879"/>
                </a:tc>
                <a:extLst>
                  <a:ext uri="{0D108BD9-81ED-4DB2-BD59-A6C34878D82A}">
                    <a16:rowId xmlns:a16="http://schemas.microsoft.com/office/drawing/2014/main" val="2996926929"/>
                  </a:ext>
                </a:extLst>
              </a:tr>
            </a:tbl>
          </a:graphicData>
        </a:graphic>
      </p:graphicFrame>
      <p:sp>
        <p:nvSpPr>
          <p:cNvPr id="3" name="TextBox 2">
            <a:extLst>
              <a:ext uri="{FF2B5EF4-FFF2-40B4-BE49-F238E27FC236}">
                <a16:creationId xmlns:a16="http://schemas.microsoft.com/office/drawing/2014/main" id="{840CE861-E200-4AED-8EDC-F88280C92E7C}"/>
              </a:ext>
            </a:extLst>
          </p:cNvPr>
          <p:cNvSpPr txBox="1"/>
          <p:nvPr/>
        </p:nvSpPr>
        <p:spPr>
          <a:xfrm>
            <a:off x="1177369" y="1593083"/>
            <a:ext cx="10595456" cy="923330"/>
          </a:xfrm>
          <a:prstGeom prst="rect">
            <a:avLst/>
          </a:prstGeom>
          <a:noFill/>
        </p:spPr>
        <p:txBody>
          <a:bodyPr wrap="square" rtlCol="0">
            <a:spAutoFit/>
          </a:bodyPr>
          <a:lstStyle/>
          <a:p>
            <a:r>
              <a:rPr lang="en-US" dirty="0"/>
              <a:t>District Enrollment: overall enrollment number of elementary and secondary students aggregated in districts</a:t>
            </a:r>
          </a:p>
          <a:p>
            <a:r>
              <a:rPr lang="en-US" dirty="0"/>
              <a:t>Continuous: number count</a:t>
            </a:r>
          </a:p>
          <a:p>
            <a:r>
              <a:rPr lang="en-US" dirty="0"/>
              <a:t>Categorical: number </a:t>
            </a:r>
            <a:r>
              <a:rPr lang="en-US"/>
              <a:t>count scale: &lt; 50000, 50000 ~ 70000, &gt; 70000</a:t>
            </a:r>
            <a:endParaRPr lang="en-US" dirty="0"/>
          </a:p>
        </p:txBody>
      </p:sp>
    </p:spTree>
    <p:extLst>
      <p:ext uri="{BB962C8B-B14F-4D97-AF65-F5344CB8AC3E}">
        <p14:creationId xmlns:p14="http://schemas.microsoft.com/office/powerpoint/2010/main" val="443233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4" name="Rectangle 2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02B6F2-3BC8-419A-A46D-F71EC41D50EA}"/>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2800">
                <a:solidFill>
                  <a:srgbClr val="FFFFFF"/>
                </a:solidFill>
              </a:rPr>
              <a:t>Education Financing Data Explorative Analysis</a:t>
            </a:r>
          </a:p>
        </p:txBody>
      </p:sp>
      <p:pic>
        <p:nvPicPr>
          <p:cNvPr id="17" name="Content Placeholder 16" descr="Chart, line chart&#10;&#10;Description automatically generated">
            <a:extLst>
              <a:ext uri="{FF2B5EF4-FFF2-40B4-BE49-F238E27FC236}">
                <a16:creationId xmlns:a16="http://schemas.microsoft.com/office/drawing/2014/main" id="{C9B689CB-6C2E-4DEB-93D5-73647D8A40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5748" y="2833334"/>
            <a:ext cx="5131088" cy="2693820"/>
          </a:xfrm>
          <a:prstGeom prst="rect">
            <a:avLst/>
          </a:prstGeom>
        </p:spPr>
      </p:pic>
      <p:pic>
        <p:nvPicPr>
          <p:cNvPr id="7" name="Picture 6" descr="A picture containing graphical user interface&#10;&#10;Description automatically generated">
            <a:extLst>
              <a:ext uri="{FF2B5EF4-FFF2-40B4-BE49-F238E27FC236}">
                <a16:creationId xmlns:a16="http://schemas.microsoft.com/office/drawing/2014/main" id="{DD5FB62B-EF21-44D5-81BF-34223C1AFC19}"/>
              </a:ext>
            </a:extLst>
          </p:cNvPr>
          <p:cNvPicPr>
            <a:picLocks noChangeAspect="1"/>
          </p:cNvPicPr>
          <p:nvPr/>
        </p:nvPicPr>
        <p:blipFill rotWithShape="1">
          <a:blip r:embed="rId3">
            <a:extLst>
              <a:ext uri="{28A0092B-C50C-407E-A947-70E740481C1C}">
                <a14:useLocalDpi xmlns:a14="http://schemas.microsoft.com/office/drawing/2010/main" val="0"/>
              </a:ext>
            </a:extLst>
          </a:blip>
          <a:srcRect t="381" r="-2" b="10235"/>
          <a:stretch/>
        </p:blipFill>
        <p:spPr>
          <a:xfrm>
            <a:off x="6345165" y="2496876"/>
            <a:ext cx="5131087" cy="3439709"/>
          </a:xfrm>
          <a:prstGeom prst="rect">
            <a:avLst/>
          </a:prstGeom>
        </p:spPr>
      </p:pic>
    </p:spTree>
    <p:extLst>
      <p:ext uri="{BB962C8B-B14F-4D97-AF65-F5344CB8AC3E}">
        <p14:creationId xmlns:p14="http://schemas.microsoft.com/office/powerpoint/2010/main" val="3142175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B73D4-3DCE-4802-9D5F-117AA825C57C}"/>
              </a:ext>
            </a:extLst>
          </p:cNvPr>
          <p:cNvSpPr>
            <a:spLocks noGrp="1"/>
          </p:cNvSpPr>
          <p:nvPr>
            <p:ph type="title"/>
          </p:nvPr>
        </p:nvSpPr>
        <p:spPr>
          <a:xfrm>
            <a:off x="648928" y="338328"/>
            <a:ext cx="3685032" cy="1608328"/>
          </a:xfrm>
        </p:spPr>
        <p:txBody>
          <a:bodyPr vert="horz" lIns="91440" tIns="45720" rIns="91440" bIns="45720" rtlCol="0">
            <a:normAutofit/>
          </a:bodyPr>
          <a:lstStyle/>
          <a:p>
            <a:r>
              <a:rPr lang="en-US" sz="3600"/>
              <a:t>Features Correlation</a:t>
            </a:r>
          </a:p>
        </p:txBody>
      </p:sp>
      <p:sp>
        <p:nvSpPr>
          <p:cNvPr id="31" name="Content Placeholder 30">
            <a:extLst>
              <a:ext uri="{FF2B5EF4-FFF2-40B4-BE49-F238E27FC236}">
                <a16:creationId xmlns:a16="http://schemas.microsoft.com/office/drawing/2014/main" id="{B1F6CB95-FE4F-4DD5-95F3-E8D4E812989B}"/>
              </a:ext>
            </a:extLst>
          </p:cNvPr>
          <p:cNvSpPr>
            <a:spLocks noGrp="1"/>
          </p:cNvSpPr>
          <p:nvPr>
            <p:ph idx="1"/>
          </p:nvPr>
        </p:nvSpPr>
        <p:spPr>
          <a:xfrm>
            <a:off x="4864100" y="338328"/>
            <a:ext cx="6675627" cy="1605083"/>
          </a:xfrm>
        </p:spPr>
        <p:txBody>
          <a:bodyPr anchor="ctr">
            <a:normAutofit/>
          </a:bodyPr>
          <a:lstStyle/>
          <a:p>
            <a:r>
              <a:rPr lang="en-US" sz="2000" dirty="0"/>
              <a:t>Features of revenue and spending have highly correlation to the enrollments on district levels.</a:t>
            </a:r>
          </a:p>
        </p:txBody>
      </p:sp>
      <p:sp>
        <p:nvSpPr>
          <p:cNvPr id="67" name="Rectangle 53">
            <a:extLst>
              <a:ext uri="{FF2B5EF4-FFF2-40B4-BE49-F238E27FC236}">
                <a16:creationId xmlns:a16="http://schemas.microsoft.com/office/drawing/2014/main" id="{5AAE9118-0436-4488-AC4A-C14DF6A7B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2211010"/>
            <a:ext cx="12192002" cy="464699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Rounded Rectangle 26">
            <a:extLst>
              <a:ext uri="{FF2B5EF4-FFF2-40B4-BE49-F238E27FC236}">
                <a16:creationId xmlns:a16="http://schemas.microsoft.com/office/drawing/2014/main" id="{1B10F861-B8F1-49C7-BD58-EAB20CEE7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Chart&#10;&#10;Description automatically generated">
            <a:extLst>
              <a:ext uri="{FF2B5EF4-FFF2-40B4-BE49-F238E27FC236}">
                <a16:creationId xmlns:a16="http://schemas.microsoft.com/office/drawing/2014/main" id="{3CE63BC8-F200-4162-B33E-146629AD2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348" y="2742397"/>
            <a:ext cx="4063999" cy="3291840"/>
          </a:xfrm>
          <a:prstGeom prst="rect">
            <a:avLst/>
          </a:prstGeom>
        </p:spPr>
      </p:pic>
      <p:sp>
        <p:nvSpPr>
          <p:cNvPr id="69" name="Rounded Rectangle 16">
            <a:extLst>
              <a:ext uri="{FF2B5EF4-FFF2-40B4-BE49-F238E27FC236}">
                <a16:creationId xmlns:a16="http://schemas.microsoft.com/office/drawing/2014/main" id="{61F6E425-22AB-4DA2-8FAC-58ADB58E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Content Placeholder 11" descr="Chart&#10;&#10;Description automatically generated">
            <a:extLst>
              <a:ext uri="{FF2B5EF4-FFF2-40B4-BE49-F238E27FC236}">
                <a16:creationId xmlns:a16="http://schemas.microsoft.com/office/drawing/2014/main" id="{95C1BE53-8235-4E26-B9E3-EC6CAD5958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6484" y="3971716"/>
            <a:ext cx="4974336" cy="833201"/>
          </a:xfrm>
          <a:prstGeom prst="rect">
            <a:avLst/>
          </a:prstGeom>
        </p:spPr>
      </p:pic>
    </p:spTree>
    <p:extLst>
      <p:ext uri="{BB962C8B-B14F-4D97-AF65-F5344CB8AC3E}">
        <p14:creationId xmlns:p14="http://schemas.microsoft.com/office/powerpoint/2010/main" val="1562077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39" y="347471"/>
            <a:ext cx="11100816" cy="18013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C7C535-996A-4BE4-A00F-87F9A4419D86}"/>
              </a:ext>
            </a:extLst>
          </p:cNvPr>
          <p:cNvSpPr>
            <a:spLocks noGrp="1"/>
          </p:cNvSpPr>
          <p:nvPr>
            <p:ph type="title"/>
          </p:nvPr>
        </p:nvSpPr>
        <p:spPr>
          <a:xfrm>
            <a:off x="838200" y="585216"/>
            <a:ext cx="10515600" cy="1325563"/>
          </a:xfrm>
        </p:spPr>
        <p:txBody>
          <a:bodyPr vert="horz" lIns="91440" tIns="45720" rIns="91440" bIns="45720" rtlCol="0">
            <a:normAutofit/>
          </a:bodyPr>
          <a:lstStyle/>
          <a:p>
            <a:r>
              <a:rPr lang="en-US">
                <a:solidFill>
                  <a:srgbClr val="FFFFFF"/>
                </a:solidFill>
              </a:rPr>
              <a:t>Significant Predictors</a:t>
            </a:r>
          </a:p>
        </p:txBody>
      </p:sp>
      <p:pic>
        <p:nvPicPr>
          <p:cNvPr id="5" name="Content Placeholder 4" descr="A close - up of a document&#10;&#10;Description automatically generated with low confidence">
            <a:extLst>
              <a:ext uri="{FF2B5EF4-FFF2-40B4-BE49-F238E27FC236}">
                <a16:creationId xmlns:a16="http://schemas.microsoft.com/office/drawing/2014/main" id="{61D33A29-3234-47CA-8B79-C86EFEFCF292}"/>
              </a:ext>
            </a:extLst>
          </p:cNvPr>
          <p:cNvPicPr>
            <a:picLocks noChangeAspect="1"/>
          </p:cNvPicPr>
          <p:nvPr/>
        </p:nvPicPr>
        <p:blipFill rotWithShape="1">
          <a:blip r:embed="rId2">
            <a:extLst>
              <a:ext uri="{28A0092B-C50C-407E-A947-70E740481C1C}">
                <a14:useLocalDpi xmlns:a14="http://schemas.microsoft.com/office/drawing/2010/main" val="0"/>
              </a:ext>
            </a:extLst>
          </a:blip>
          <a:srcRect t="1078" r="3" b="9659"/>
          <a:stretch/>
        </p:blipFill>
        <p:spPr>
          <a:xfrm>
            <a:off x="841248" y="2516777"/>
            <a:ext cx="6236208" cy="3660185"/>
          </a:xfrm>
          <a:prstGeom prst="rect">
            <a:avLst/>
          </a:prstGeom>
        </p:spPr>
      </p:pic>
      <p:sp>
        <p:nvSpPr>
          <p:cNvPr id="14" name="Content Placeholder 13">
            <a:extLst>
              <a:ext uri="{FF2B5EF4-FFF2-40B4-BE49-F238E27FC236}">
                <a16:creationId xmlns:a16="http://schemas.microsoft.com/office/drawing/2014/main" id="{7A3B27F5-B5FD-4B66-89C4-EC30285EC04A}"/>
              </a:ext>
            </a:extLst>
          </p:cNvPr>
          <p:cNvSpPr>
            <a:spLocks noGrp="1"/>
          </p:cNvSpPr>
          <p:nvPr>
            <p:ph idx="1"/>
          </p:nvPr>
        </p:nvSpPr>
        <p:spPr>
          <a:xfrm>
            <a:off x="7546848" y="2516777"/>
            <a:ext cx="3803904" cy="3660185"/>
          </a:xfrm>
        </p:spPr>
        <p:txBody>
          <a:bodyPr anchor="ctr">
            <a:normAutofit/>
          </a:bodyPr>
          <a:lstStyle/>
          <a:p>
            <a:r>
              <a:rPr lang="en-US" sz="2200" dirty="0"/>
              <a:t>Multiple Regression indicate the statistically significant predictors of the Features.</a:t>
            </a:r>
          </a:p>
          <a:p>
            <a:r>
              <a:rPr lang="en-US" sz="2200" dirty="0"/>
              <a:t>The selected features have main effect on enrollment, </a:t>
            </a:r>
          </a:p>
          <a:p>
            <a:r>
              <a:rPr lang="en-US" sz="2200" i="1" dirty="0"/>
              <a:t>p</a:t>
            </a:r>
            <a:r>
              <a:rPr lang="en-US" sz="2200" dirty="0"/>
              <a:t> &lt;.001</a:t>
            </a:r>
          </a:p>
        </p:txBody>
      </p:sp>
    </p:spTree>
    <p:extLst>
      <p:ext uri="{BB962C8B-B14F-4D97-AF65-F5344CB8AC3E}">
        <p14:creationId xmlns:p14="http://schemas.microsoft.com/office/powerpoint/2010/main" val="4229623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Rectangle 7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8FEA122F-97CF-48AC-8DDE-88E081A73B21}"/>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Performance Evaluation</a:t>
            </a:r>
          </a:p>
        </p:txBody>
      </p:sp>
      <p:sp>
        <p:nvSpPr>
          <p:cNvPr id="5" name="Content Placeholder 4">
            <a:extLst>
              <a:ext uri="{FF2B5EF4-FFF2-40B4-BE49-F238E27FC236}">
                <a16:creationId xmlns:a16="http://schemas.microsoft.com/office/drawing/2014/main" id="{AE6A5D5E-BFE4-4B05-BDE2-EF5B176E3045}"/>
              </a:ext>
            </a:extLst>
          </p:cNvPr>
          <p:cNvSpPr>
            <a:spLocks noGrp="1"/>
          </p:cNvSpPr>
          <p:nvPr>
            <p:ph idx="1"/>
          </p:nvPr>
        </p:nvSpPr>
        <p:spPr>
          <a:xfrm>
            <a:off x="838200" y="2698077"/>
            <a:ext cx="5334000" cy="3478885"/>
          </a:xfrm>
        </p:spPr>
        <p:style>
          <a:lnRef idx="2">
            <a:schemeClr val="dk1"/>
          </a:lnRef>
          <a:fillRef idx="1">
            <a:schemeClr val="lt1"/>
          </a:fillRef>
          <a:effectRef idx="0">
            <a:schemeClr val="dk1"/>
          </a:effectRef>
          <a:fontRef idx="minor">
            <a:schemeClr val="dk1"/>
          </a:fontRef>
        </p:style>
        <p:txBody>
          <a:bodyPr>
            <a:normAutofit/>
          </a:bodyPr>
          <a:lstStyle/>
          <a:p>
            <a:r>
              <a:rPr lang="en-US" sz="2000" i="1" dirty="0"/>
              <a:t>Enrollments</a:t>
            </a:r>
            <a:r>
              <a:rPr lang="en-US" sz="2000" dirty="0"/>
              <a:t> = 4230.32 -0.1 * </a:t>
            </a:r>
            <a:r>
              <a:rPr lang="en-US" sz="2000" dirty="0" err="1"/>
              <a:t>total_revenue</a:t>
            </a:r>
            <a:r>
              <a:rPr lang="en-US" sz="2000" dirty="0"/>
              <a:t>  - 0.1 *</a:t>
            </a:r>
            <a:r>
              <a:rPr lang="en-US" sz="2000" dirty="0" err="1"/>
              <a:t>federal_revenue</a:t>
            </a:r>
            <a:endParaRPr lang="en-US" sz="2000" dirty="0"/>
          </a:p>
          <a:p>
            <a:pPr marL="0" indent="0">
              <a:buFont typeface="Arial" panose="020B0604020202020204" pitchFamily="34" charset="0"/>
              <a:buNone/>
            </a:pPr>
            <a:r>
              <a:rPr lang="en-US" sz="2000" dirty="0"/>
              <a:t> + 0.1 *expenditure+ 0.02 *</a:t>
            </a:r>
            <a:r>
              <a:rPr lang="en-US" sz="2000" dirty="0" err="1"/>
              <a:t>current_spending_instruction</a:t>
            </a:r>
            <a:r>
              <a:rPr lang="en-US" sz="2000" dirty="0"/>
              <a:t> </a:t>
            </a:r>
          </a:p>
          <a:p>
            <a:pPr marL="0" indent="0">
              <a:buFont typeface="Arial" panose="020B0604020202020204" pitchFamily="34" charset="0"/>
              <a:buNone/>
            </a:pPr>
            <a:r>
              <a:rPr lang="en-US" sz="2000" dirty="0"/>
              <a:t> + 0.2 *</a:t>
            </a:r>
            <a:r>
              <a:rPr lang="en-US" sz="2000" dirty="0" err="1"/>
              <a:t>current_spending</a:t>
            </a:r>
            <a:r>
              <a:rPr lang="en-US" sz="2000" dirty="0"/>
              <a:t> + 1.0 *</a:t>
            </a:r>
            <a:r>
              <a:rPr lang="en-US" sz="2000" dirty="0" err="1"/>
              <a:t>other_spending</a:t>
            </a:r>
            <a:endParaRPr lang="en-US" sz="2000" dirty="0"/>
          </a:p>
          <a:p>
            <a:endParaRPr lang="en-US" sz="2000" dirty="0"/>
          </a:p>
          <a:p>
            <a:r>
              <a:rPr lang="en-US" sz="2000" dirty="0"/>
              <a:t>MAE: 19949.20</a:t>
            </a:r>
          </a:p>
          <a:p>
            <a:r>
              <a:rPr lang="en-US" sz="2000" dirty="0"/>
              <a:t>RMSE: 30726.0</a:t>
            </a:r>
          </a:p>
          <a:p>
            <a:endParaRPr lang="en-US" sz="2000" dirty="0"/>
          </a:p>
        </p:txBody>
      </p:sp>
      <p:sp>
        <p:nvSpPr>
          <p:cNvPr id="43" name="Content Placeholder 5">
            <a:extLst>
              <a:ext uri="{FF2B5EF4-FFF2-40B4-BE49-F238E27FC236}">
                <a16:creationId xmlns:a16="http://schemas.microsoft.com/office/drawing/2014/main" id="{C472B1E0-27BF-4131-ADA2-4F419DE42E35}"/>
              </a:ext>
            </a:extLst>
          </p:cNvPr>
          <p:cNvSpPr txBox="1">
            <a:spLocks/>
          </p:cNvSpPr>
          <p:nvPr/>
        </p:nvSpPr>
        <p:spPr>
          <a:xfrm>
            <a:off x="6172200" y="2710778"/>
            <a:ext cx="5183188" cy="3478884"/>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i="1" dirty="0"/>
              <a:t>Enrollments</a:t>
            </a:r>
            <a:r>
              <a:rPr lang="en-US" sz="2000" dirty="0"/>
              <a:t> = 4124  -0.1 * </a:t>
            </a:r>
            <a:r>
              <a:rPr lang="en-US" sz="2000" dirty="0" err="1"/>
              <a:t>total_revenue</a:t>
            </a:r>
            <a:r>
              <a:rPr lang="en-US" sz="2000" dirty="0"/>
              <a:t>  -0.1*</a:t>
            </a:r>
            <a:r>
              <a:rPr lang="en-US" sz="2000" dirty="0" err="1"/>
              <a:t>federal_revenue</a:t>
            </a:r>
            <a:endParaRPr lang="en-US" sz="2000" dirty="0"/>
          </a:p>
          <a:p>
            <a:pPr marL="0" indent="0">
              <a:buFont typeface="Arial" panose="020B0604020202020204" pitchFamily="34" charset="0"/>
              <a:buNone/>
            </a:pPr>
            <a:r>
              <a:rPr lang="en-US" sz="2000" dirty="0"/>
              <a:t>+ 0.16 *</a:t>
            </a:r>
            <a:r>
              <a:rPr lang="en-US" sz="2000" dirty="0" err="1"/>
              <a:t>current_spending</a:t>
            </a:r>
            <a:r>
              <a:rPr lang="en-US" sz="2000" dirty="0"/>
              <a:t> + .02  *</a:t>
            </a:r>
            <a:r>
              <a:rPr lang="en-US" sz="2000" dirty="0" err="1"/>
              <a:t>current_spending_instruction</a:t>
            </a:r>
            <a:r>
              <a:rPr lang="en-US" sz="2000" dirty="0"/>
              <a:t>  + 1.1 *</a:t>
            </a:r>
            <a:r>
              <a:rPr lang="en-US" sz="2000" dirty="0" err="1"/>
              <a:t>other_spending</a:t>
            </a:r>
            <a:endParaRPr lang="en-US" sz="2000" dirty="0"/>
          </a:p>
          <a:p>
            <a:endParaRPr lang="en-US" sz="2000" dirty="0"/>
          </a:p>
          <a:p>
            <a:r>
              <a:rPr lang="en-US" sz="2000" dirty="0"/>
              <a:t>RMSE: 30554.39 (alpha=0.0)</a:t>
            </a:r>
          </a:p>
          <a:p>
            <a:pPr marL="0" indent="0">
              <a:buFont typeface="Arial" panose="020B0604020202020204" pitchFamily="34" charset="0"/>
              <a:buNone/>
            </a:pPr>
            <a:endParaRPr lang="en-US" sz="2000" dirty="0"/>
          </a:p>
        </p:txBody>
      </p:sp>
      <p:sp>
        <p:nvSpPr>
          <p:cNvPr id="45" name="Text Placeholder 2">
            <a:extLst>
              <a:ext uri="{FF2B5EF4-FFF2-40B4-BE49-F238E27FC236}">
                <a16:creationId xmlns:a16="http://schemas.microsoft.com/office/drawing/2014/main" id="{073918FC-FBAB-4355-8845-131CD4D34511}"/>
              </a:ext>
            </a:extLst>
          </p:cNvPr>
          <p:cNvSpPr txBox="1">
            <a:spLocks/>
          </p:cNvSpPr>
          <p:nvPr/>
        </p:nvSpPr>
        <p:spPr>
          <a:xfrm>
            <a:off x="849524" y="1820483"/>
            <a:ext cx="5310044" cy="890295"/>
          </a:xfrm>
          <a:prstGeom prst="rect">
            <a:avLst/>
          </a:prstGeom>
          <a:solidFill>
            <a:srgbClr val="4472C4"/>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bg1"/>
                </a:solidFill>
              </a:rPr>
              <a:t>LR Algorithm with Feature Selection</a:t>
            </a:r>
          </a:p>
        </p:txBody>
      </p:sp>
      <p:sp>
        <p:nvSpPr>
          <p:cNvPr id="46" name="Text Placeholder 4">
            <a:extLst>
              <a:ext uri="{FF2B5EF4-FFF2-40B4-BE49-F238E27FC236}">
                <a16:creationId xmlns:a16="http://schemas.microsoft.com/office/drawing/2014/main" id="{F71D005D-4AF5-4FD0-BA1B-3C7BB05E0E64}"/>
              </a:ext>
            </a:extLst>
          </p:cNvPr>
          <p:cNvSpPr txBox="1">
            <a:spLocks/>
          </p:cNvSpPr>
          <p:nvPr/>
        </p:nvSpPr>
        <p:spPr>
          <a:xfrm>
            <a:off x="6148309" y="1824297"/>
            <a:ext cx="5224854" cy="873780"/>
          </a:xfrm>
          <a:prstGeom prst="rect">
            <a:avLst/>
          </a:prstGeom>
          <a:solidFill>
            <a:srgbClr val="4472C4"/>
          </a:solidFill>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bg1"/>
                </a:solidFill>
              </a:rPr>
              <a:t>Regularized Regression Algorithm after compare the features</a:t>
            </a:r>
          </a:p>
        </p:txBody>
      </p:sp>
    </p:spTree>
    <p:extLst>
      <p:ext uri="{BB962C8B-B14F-4D97-AF65-F5344CB8AC3E}">
        <p14:creationId xmlns:p14="http://schemas.microsoft.com/office/powerpoint/2010/main" val="2661621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FC7A3AA1-44C4-4CBE-8808-D86A411AD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032449"/>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4FDAB746-A9A3-4EC2-8997-5EB71BC964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45716" b="33968"/>
          <a:stretch/>
        </p:blipFill>
        <p:spPr>
          <a:xfrm>
            <a:off x="0" y="1584458"/>
            <a:ext cx="12192000" cy="1393277"/>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2" name="Title 1">
            <a:extLst>
              <a:ext uri="{FF2B5EF4-FFF2-40B4-BE49-F238E27FC236}">
                <a16:creationId xmlns:a16="http://schemas.microsoft.com/office/drawing/2014/main" id="{6FFE4010-BDA0-4A3D-B1F7-3C2030BEE72E}"/>
              </a:ext>
            </a:extLst>
          </p:cNvPr>
          <p:cNvSpPr>
            <a:spLocks noGrp="1"/>
          </p:cNvSpPr>
          <p:nvPr>
            <p:ph type="title"/>
          </p:nvPr>
        </p:nvSpPr>
        <p:spPr>
          <a:xfrm>
            <a:off x="804672" y="338328"/>
            <a:ext cx="5011473" cy="1773936"/>
          </a:xfrm>
        </p:spPr>
        <p:txBody>
          <a:bodyPr vert="horz" lIns="91440" tIns="45720" rIns="91440" bIns="45720" rtlCol="0">
            <a:normAutofit/>
          </a:bodyPr>
          <a:lstStyle/>
          <a:p>
            <a:r>
              <a:rPr lang="en-US" sz="4000" kern="1200">
                <a:solidFill>
                  <a:srgbClr val="FFFFFF"/>
                </a:solidFill>
                <a:latin typeface="+mj-lt"/>
                <a:ea typeface="+mj-ea"/>
                <a:cs typeface="+mj-cs"/>
              </a:rPr>
              <a:t>K Nearest Neighbors</a:t>
            </a:r>
          </a:p>
        </p:txBody>
      </p:sp>
      <p:sp>
        <p:nvSpPr>
          <p:cNvPr id="12" name="Content Placeholder 23">
            <a:extLst>
              <a:ext uri="{FF2B5EF4-FFF2-40B4-BE49-F238E27FC236}">
                <a16:creationId xmlns:a16="http://schemas.microsoft.com/office/drawing/2014/main" id="{6A709109-2999-4C43-905E-5123CFB1AA63}"/>
              </a:ext>
            </a:extLst>
          </p:cNvPr>
          <p:cNvSpPr>
            <a:spLocks noGrp="1"/>
          </p:cNvSpPr>
          <p:nvPr>
            <p:ph idx="1"/>
          </p:nvPr>
        </p:nvSpPr>
        <p:spPr>
          <a:xfrm>
            <a:off x="6355641" y="338328"/>
            <a:ext cx="5029200" cy="1773936"/>
          </a:xfrm>
        </p:spPr>
        <p:txBody>
          <a:bodyPr anchor="ctr">
            <a:normAutofit fontScale="92500"/>
          </a:bodyPr>
          <a:lstStyle/>
          <a:p>
            <a:r>
              <a:rPr lang="en-US" sz="1700" dirty="0">
                <a:solidFill>
                  <a:srgbClr val="FFFFFF"/>
                </a:solidFill>
              </a:rPr>
              <a:t>KNN is used to create the classifier to predict the enrollment with a result or roughly 93.14 % accuracy. </a:t>
            </a:r>
          </a:p>
          <a:p>
            <a:r>
              <a:rPr lang="en-US" sz="1700" dirty="0">
                <a:solidFill>
                  <a:srgbClr val="FFFFFF"/>
                </a:solidFill>
              </a:rPr>
              <a:t>5-folds Cross validation was used to evaluate the KNN algorithm </a:t>
            </a:r>
          </a:p>
          <a:p>
            <a:r>
              <a:rPr lang="en-US" sz="1700" dirty="0">
                <a:solidFill>
                  <a:srgbClr val="FFFFFF"/>
                </a:solidFill>
              </a:rPr>
              <a:t>Both the accuracy and MSE indicated the best K is 28 ~ 29.</a:t>
            </a:r>
          </a:p>
        </p:txBody>
      </p:sp>
      <p:sp>
        <p:nvSpPr>
          <p:cNvPr id="47" name="Rectangle 46">
            <a:extLst>
              <a:ext uri="{FF2B5EF4-FFF2-40B4-BE49-F238E27FC236}">
                <a16:creationId xmlns:a16="http://schemas.microsoft.com/office/drawing/2014/main" id="{091C9E05-1ED5-4438-8E0F-382199749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805364"/>
            <a:ext cx="12188952" cy="40526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Chart, line chart&#10;&#10;Description automatically generated">
            <a:extLst>
              <a:ext uri="{FF2B5EF4-FFF2-40B4-BE49-F238E27FC236}">
                <a16:creationId xmlns:a16="http://schemas.microsoft.com/office/drawing/2014/main" id="{7BDAB52F-E899-4638-8681-43B0480742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133" y="3032449"/>
            <a:ext cx="4820092" cy="3108960"/>
          </a:xfrm>
          <a:prstGeom prst="rect">
            <a:avLst/>
          </a:prstGeom>
        </p:spPr>
      </p:pic>
      <p:pic>
        <p:nvPicPr>
          <p:cNvPr id="20" name="Picture 19" descr="Chart, line chart&#10;&#10;Description automatically generated">
            <a:extLst>
              <a:ext uri="{FF2B5EF4-FFF2-40B4-BE49-F238E27FC236}">
                <a16:creationId xmlns:a16="http://schemas.microsoft.com/office/drawing/2014/main" id="{BAEA2703-191D-4EC5-B43A-66D14DADAD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1392" y="3032449"/>
            <a:ext cx="4934857" cy="3108960"/>
          </a:xfrm>
          <a:prstGeom prst="rect">
            <a:avLst/>
          </a:prstGeom>
        </p:spPr>
      </p:pic>
    </p:spTree>
    <p:extLst>
      <p:ext uri="{BB962C8B-B14F-4D97-AF65-F5344CB8AC3E}">
        <p14:creationId xmlns:p14="http://schemas.microsoft.com/office/powerpoint/2010/main" val="792984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6899C92-D4C7-4A57-A8FA-089BF40BCEEA}"/>
              </a:ext>
            </a:extLst>
          </p:cNvPr>
          <p:cNvSpPr>
            <a:spLocks noGrp="1"/>
          </p:cNvSpPr>
          <p:nvPr>
            <p:ph type="title"/>
          </p:nvPr>
        </p:nvSpPr>
        <p:spPr>
          <a:xfrm>
            <a:off x="1046746" y="586822"/>
            <a:ext cx="3560252" cy="1645920"/>
          </a:xfrm>
        </p:spPr>
        <p:txBody>
          <a:bodyPr>
            <a:normAutofit/>
          </a:bodyPr>
          <a:lstStyle/>
          <a:p>
            <a:r>
              <a:rPr lang="en-US" sz="3200"/>
              <a:t>Comparison of LR and KNN</a:t>
            </a:r>
          </a:p>
        </p:txBody>
      </p:sp>
      <p:sp>
        <p:nvSpPr>
          <p:cNvPr id="25" name="Rectangle 24">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7" name="Rectangle 26">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Content Placeholder 17">
            <a:extLst>
              <a:ext uri="{FF2B5EF4-FFF2-40B4-BE49-F238E27FC236}">
                <a16:creationId xmlns:a16="http://schemas.microsoft.com/office/drawing/2014/main" id="{7519A51E-682A-41FD-AA61-677C18DC6B39}"/>
              </a:ext>
            </a:extLst>
          </p:cNvPr>
          <p:cNvSpPr>
            <a:spLocks noGrp="1"/>
          </p:cNvSpPr>
          <p:nvPr>
            <p:ph idx="1"/>
          </p:nvPr>
        </p:nvSpPr>
        <p:spPr>
          <a:xfrm>
            <a:off x="5351164" y="586822"/>
            <a:ext cx="6002636" cy="1645920"/>
          </a:xfrm>
        </p:spPr>
        <p:txBody>
          <a:bodyPr anchor="ctr">
            <a:normAutofit/>
          </a:bodyPr>
          <a:lstStyle/>
          <a:p>
            <a:r>
              <a:rPr lang="en-US" sz="1800" dirty="0">
                <a:latin typeface="Calibri" panose="020F0502020204030204" pitchFamily="34" charset="0"/>
                <a:cs typeface="Calibri" panose="020F0502020204030204" pitchFamily="34" charset="0"/>
              </a:rPr>
              <a:t>The proposed models of LR algorithm and KNN can predict enrollment with reliable accuracy.</a:t>
            </a:r>
          </a:p>
          <a:p>
            <a:r>
              <a:rPr lang="en-US" sz="1800" dirty="0">
                <a:latin typeface="Calibri" panose="020F0502020204030204" pitchFamily="34" charset="0"/>
                <a:cs typeface="Calibri" panose="020F0502020204030204" pitchFamily="34" charset="0"/>
              </a:rPr>
              <a:t>LR Algorithm can be use for the projection of next year enrollment.</a:t>
            </a:r>
          </a:p>
          <a:p>
            <a:pPr marL="0" indent="0">
              <a:buNone/>
            </a:pPr>
            <a:endParaRPr lang="en-US" sz="1800" dirty="0"/>
          </a:p>
        </p:txBody>
      </p:sp>
      <p:graphicFrame>
        <p:nvGraphicFramePr>
          <p:cNvPr id="16" name="Table 4">
            <a:extLst>
              <a:ext uri="{FF2B5EF4-FFF2-40B4-BE49-F238E27FC236}">
                <a16:creationId xmlns:a16="http://schemas.microsoft.com/office/drawing/2014/main" id="{9445CFC7-89C6-4AA4-BC46-58C12D4546BE}"/>
              </a:ext>
            </a:extLst>
          </p:cNvPr>
          <p:cNvGraphicFramePr>
            <a:graphicFrameLocks/>
          </p:cNvGraphicFramePr>
          <p:nvPr>
            <p:extLst>
              <p:ext uri="{D42A27DB-BD31-4B8C-83A1-F6EECF244321}">
                <p14:modId xmlns:p14="http://schemas.microsoft.com/office/powerpoint/2010/main" val="676996276"/>
              </p:ext>
            </p:extLst>
          </p:nvPr>
        </p:nvGraphicFramePr>
        <p:xfrm>
          <a:off x="1116557" y="3061716"/>
          <a:ext cx="10047277" cy="2828544"/>
        </p:xfrm>
        <a:graphic>
          <a:graphicData uri="http://schemas.openxmlformats.org/drawingml/2006/table">
            <a:tbl>
              <a:tblPr firstRow="1" bandRow="1">
                <a:tableStyleId>{5C22544A-7EE6-4342-B048-85BDC9FD1C3A}</a:tableStyleId>
              </a:tblPr>
              <a:tblGrid>
                <a:gridCol w="3973255">
                  <a:extLst>
                    <a:ext uri="{9D8B030D-6E8A-4147-A177-3AD203B41FA5}">
                      <a16:colId xmlns:a16="http://schemas.microsoft.com/office/drawing/2014/main" val="1766330858"/>
                    </a:ext>
                  </a:extLst>
                </a:gridCol>
                <a:gridCol w="2869825">
                  <a:extLst>
                    <a:ext uri="{9D8B030D-6E8A-4147-A177-3AD203B41FA5}">
                      <a16:colId xmlns:a16="http://schemas.microsoft.com/office/drawing/2014/main" val="1366992066"/>
                    </a:ext>
                  </a:extLst>
                </a:gridCol>
                <a:gridCol w="3204197">
                  <a:extLst>
                    <a:ext uri="{9D8B030D-6E8A-4147-A177-3AD203B41FA5}">
                      <a16:colId xmlns:a16="http://schemas.microsoft.com/office/drawing/2014/main" val="430952466"/>
                    </a:ext>
                  </a:extLst>
                </a:gridCol>
              </a:tblGrid>
              <a:tr h="707136">
                <a:tc>
                  <a:txBody>
                    <a:bodyPr/>
                    <a:lstStyle/>
                    <a:p>
                      <a:endParaRPr lang="en-US" sz="3300"/>
                    </a:p>
                  </a:txBody>
                  <a:tcPr marL="167640" marR="167640" marT="83820" marB="83820"/>
                </a:tc>
                <a:tc>
                  <a:txBody>
                    <a:bodyPr/>
                    <a:lstStyle/>
                    <a:p>
                      <a:r>
                        <a:rPr lang="en-US" sz="3300"/>
                        <a:t>LR</a:t>
                      </a:r>
                    </a:p>
                  </a:txBody>
                  <a:tcPr marL="167640" marR="167640" marT="83820" marB="83820"/>
                </a:tc>
                <a:tc>
                  <a:txBody>
                    <a:bodyPr/>
                    <a:lstStyle/>
                    <a:p>
                      <a:r>
                        <a:rPr lang="en-US" sz="3300"/>
                        <a:t>KNN</a:t>
                      </a:r>
                    </a:p>
                  </a:txBody>
                  <a:tcPr marL="167640" marR="167640" marT="83820" marB="83820"/>
                </a:tc>
                <a:extLst>
                  <a:ext uri="{0D108BD9-81ED-4DB2-BD59-A6C34878D82A}">
                    <a16:rowId xmlns:a16="http://schemas.microsoft.com/office/drawing/2014/main" val="3781197705"/>
                  </a:ext>
                </a:extLst>
              </a:tr>
              <a:tr h="707136">
                <a:tc>
                  <a:txBody>
                    <a:bodyPr/>
                    <a:lstStyle/>
                    <a:p>
                      <a:r>
                        <a:rPr lang="en-US" sz="3300"/>
                        <a:t>Train Data</a:t>
                      </a:r>
                    </a:p>
                  </a:txBody>
                  <a:tcPr marL="167640" marR="167640" marT="83820" marB="83820"/>
                </a:tc>
                <a:tc>
                  <a:txBody>
                    <a:bodyPr/>
                    <a:lstStyle/>
                    <a:p>
                      <a:r>
                        <a:rPr lang="en-US" sz="3300"/>
                        <a:t>2874</a:t>
                      </a:r>
                    </a:p>
                  </a:txBody>
                  <a:tcPr marL="167640" marR="167640" marT="83820" marB="83820"/>
                </a:tc>
                <a:tc>
                  <a:txBody>
                    <a:bodyPr/>
                    <a:lstStyle/>
                    <a:p>
                      <a:r>
                        <a:rPr lang="en-US" sz="3300"/>
                        <a:t>2891</a:t>
                      </a:r>
                    </a:p>
                  </a:txBody>
                  <a:tcPr marL="167640" marR="167640" marT="83820" marB="83820"/>
                </a:tc>
                <a:extLst>
                  <a:ext uri="{0D108BD9-81ED-4DB2-BD59-A6C34878D82A}">
                    <a16:rowId xmlns:a16="http://schemas.microsoft.com/office/drawing/2014/main" val="2866885667"/>
                  </a:ext>
                </a:extLst>
              </a:tr>
              <a:tr h="707136">
                <a:tc>
                  <a:txBody>
                    <a:bodyPr/>
                    <a:lstStyle/>
                    <a:p>
                      <a:r>
                        <a:rPr lang="en-US" sz="3300"/>
                        <a:t>Test Data</a:t>
                      </a:r>
                    </a:p>
                  </a:txBody>
                  <a:tcPr marL="167640" marR="167640" marT="83820" marB="83820"/>
                </a:tc>
                <a:tc>
                  <a:txBody>
                    <a:bodyPr/>
                    <a:lstStyle/>
                    <a:p>
                      <a:r>
                        <a:rPr lang="en-US" sz="3300"/>
                        <a:t>958</a:t>
                      </a:r>
                    </a:p>
                  </a:txBody>
                  <a:tcPr marL="167640" marR="167640" marT="83820" marB="83820"/>
                </a:tc>
                <a:tc>
                  <a:txBody>
                    <a:bodyPr/>
                    <a:lstStyle/>
                    <a:p>
                      <a:r>
                        <a:rPr lang="en-US" sz="3300"/>
                        <a:t>964</a:t>
                      </a:r>
                    </a:p>
                  </a:txBody>
                  <a:tcPr marL="167640" marR="167640" marT="83820" marB="83820"/>
                </a:tc>
                <a:extLst>
                  <a:ext uri="{0D108BD9-81ED-4DB2-BD59-A6C34878D82A}">
                    <a16:rowId xmlns:a16="http://schemas.microsoft.com/office/drawing/2014/main" val="1222262567"/>
                  </a:ext>
                </a:extLst>
              </a:tr>
              <a:tr h="707136">
                <a:tc>
                  <a:txBody>
                    <a:bodyPr/>
                    <a:lstStyle/>
                    <a:p>
                      <a:r>
                        <a:rPr lang="en-US" sz="3300"/>
                        <a:t>Accuracy</a:t>
                      </a:r>
                    </a:p>
                  </a:txBody>
                  <a:tcPr marL="167640" marR="167640" marT="83820" marB="83820"/>
                </a:tc>
                <a:tc>
                  <a:txBody>
                    <a:bodyPr/>
                    <a:lstStyle/>
                    <a:p>
                      <a:r>
                        <a:rPr lang="en-US" sz="3300"/>
                        <a:t>88.6%</a:t>
                      </a:r>
                    </a:p>
                  </a:txBody>
                  <a:tcPr marL="167640" marR="167640" marT="83820" marB="83820"/>
                </a:tc>
                <a:tc>
                  <a:txBody>
                    <a:bodyPr/>
                    <a:lstStyle/>
                    <a:p>
                      <a:r>
                        <a:rPr lang="en-US" sz="3300" dirty="0"/>
                        <a:t>93.14%</a:t>
                      </a:r>
                    </a:p>
                  </a:txBody>
                  <a:tcPr marL="167640" marR="167640" marT="83820" marB="83820"/>
                </a:tc>
                <a:extLst>
                  <a:ext uri="{0D108BD9-81ED-4DB2-BD59-A6C34878D82A}">
                    <a16:rowId xmlns:a16="http://schemas.microsoft.com/office/drawing/2014/main" val="3487926556"/>
                  </a:ext>
                </a:extLst>
              </a:tr>
            </a:tbl>
          </a:graphicData>
        </a:graphic>
      </p:graphicFrame>
    </p:spTree>
    <p:extLst>
      <p:ext uri="{BB962C8B-B14F-4D97-AF65-F5344CB8AC3E}">
        <p14:creationId xmlns:p14="http://schemas.microsoft.com/office/powerpoint/2010/main" val="1953642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372B77-5C1A-4278-B52D-EA4A2A0005F8}"/>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Findings &amp; Implication</a:t>
            </a:r>
          </a:p>
        </p:txBody>
      </p:sp>
      <p:sp>
        <p:nvSpPr>
          <p:cNvPr id="3" name="Content Placeholder 2">
            <a:extLst>
              <a:ext uri="{FF2B5EF4-FFF2-40B4-BE49-F238E27FC236}">
                <a16:creationId xmlns:a16="http://schemas.microsoft.com/office/drawing/2014/main" id="{7425E581-4D08-4087-8ACD-37786ADD339B}"/>
              </a:ext>
            </a:extLst>
          </p:cNvPr>
          <p:cNvSpPr>
            <a:spLocks noGrp="1"/>
          </p:cNvSpPr>
          <p:nvPr>
            <p:ph idx="1"/>
          </p:nvPr>
        </p:nvSpPr>
        <p:spPr>
          <a:xfrm>
            <a:off x="6503158" y="649480"/>
            <a:ext cx="4862447" cy="5546047"/>
          </a:xfrm>
        </p:spPr>
        <p:txBody>
          <a:bodyPr anchor="t">
            <a:normAutofit/>
          </a:bodyPr>
          <a:lstStyle/>
          <a:p>
            <a:r>
              <a:rPr lang="en-US" sz="2000" dirty="0"/>
              <a:t>The results indicated the spending on the instruction, payments to the government, and institutional supports are more likely to increase the district enrollments. </a:t>
            </a:r>
          </a:p>
          <a:p>
            <a:r>
              <a:rPr lang="en-US" sz="2000" dirty="0">
                <a:solidFill>
                  <a:srgbClr val="000000"/>
                </a:solidFill>
                <a:latin typeface="Calibri" panose="020F0502020204030204" pitchFamily="34" charset="0"/>
                <a:cs typeface="Calibri" panose="020F0502020204030204" pitchFamily="34" charset="0"/>
              </a:rPr>
              <a:t>Expanding the federal and total revenue such as allocation of financial aid and scholarship is not the best solution to maximize the enrollments for elementary and secondary students . </a:t>
            </a:r>
            <a:endParaRPr lang="en-US" sz="2000" dirty="0"/>
          </a:p>
          <a:p>
            <a:r>
              <a:rPr lang="en-US" sz="2000" dirty="0">
                <a:latin typeface="Calibri" panose="020F0502020204030204" pitchFamily="34" charset="0"/>
                <a:cs typeface="Calibri" panose="020F0502020204030204" pitchFamily="34" charset="0"/>
              </a:rPr>
              <a:t>Using the projection of LR algorithm and KNN by applying the enrollment from last year to project the enrollment of next year can help the management to assign money rewards efficiently.</a:t>
            </a:r>
          </a:p>
        </p:txBody>
      </p:sp>
    </p:spTree>
    <p:extLst>
      <p:ext uri="{BB962C8B-B14F-4D97-AF65-F5344CB8AC3E}">
        <p14:creationId xmlns:p14="http://schemas.microsoft.com/office/powerpoint/2010/main" val="3964950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18">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2F1CBFD-D7F3-493E-82E2-B9A3C61B900E}"/>
              </a:ext>
            </a:extLst>
          </p:cNvPr>
          <p:cNvSpPr>
            <a:spLocks noGrp="1"/>
          </p:cNvSpPr>
          <p:nvPr>
            <p:ph type="title"/>
          </p:nvPr>
        </p:nvSpPr>
        <p:spPr>
          <a:xfrm>
            <a:off x="640079" y="2053641"/>
            <a:ext cx="3669161" cy="2760098"/>
          </a:xfrm>
        </p:spPr>
        <p:txBody>
          <a:bodyPr>
            <a:normAutofit/>
          </a:bodyPr>
          <a:lstStyle/>
          <a:p>
            <a:r>
              <a:rPr lang="en-US" sz="3700">
                <a:solidFill>
                  <a:srgbClr val="FFFFFF"/>
                </a:solidFill>
              </a:rPr>
              <a:t>Recommendation for Stakeholders</a:t>
            </a:r>
          </a:p>
        </p:txBody>
      </p:sp>
      <p:sp>
        <p:nvSpPr>
          <p:cNvPr id="3" name="Content Placeholder 2">
            <a:extLst>
              <a:ext uri="{FF2B5EF4-FFF2-40B4-BE49-F238E27FC236}">
                <a16:creationId xmlns:a16="http://schemas.microsoft.com/office/drawing/2014/main" id="{306F6121-FB12-482C-A88B-85E7E2507B57}"/>
              </a:ext>
            </a:extLst>
          </p:cNvPr>
          <p:cNvSpPr>
            <a:spLocks noGrp="1"/>
          </p:cNvSpPr>
          <p:nvPr>
            <p:ph idx="1"/>
          </p:nvPr>
        </p:nvSpPr>
        <p:spPr>
          <a:xfrm>
            <a:off x="6090574" y="801866"/>
            <a:ext cx="5306084" cy="5230634"/>
          </a:xfrm>
        </p:spPr>
        <p:txBody>
          <a:bodyPr anchor="ctr">
            <a:noAutofit/>
          </a:bodyPr>
          <a:lstStyle/>
          <a:p>
            <a:pPr>
              <a:buFont typeface="Wingdings" panose="05000000000000000000" pitchFamily="2" charset="2"/>
              <a:buChar char="Ø"/>
            </a:pPr>
            <a:r>
              <a:rPr lang="en-US" sz="1800" dirty="0">
                <a:solidFill>
                  <a:srgbClr val="000000"/>
                </a:solidFill>
                <a:latin typeface="Calibri" panose="020F0502020204030204" pitchFamily="34" charset="0"/>
                <a:cs typeface="Calibri" panose="020F0502020204030204" pitchFamily="34" charset="0"/>
              </a:rPr>
              <a:t>The elementary and secondary students' cohorts on the district level have large variation for the management of educational financing and budget the next year compared to the school year. </a:t>
            </a:r>
          </a:p>
          <a:p>
            <a:pPr>
              <a:buFont typeface="Wingdings" panose="05000000000000000000" pitchFamily="2" charset="2"/>
              <a:buChar char="Ø"/>
            </a:pPr>
            <a:r>
              <a:rPr lang="en-US" sz="1800" dirty="0">
                <a:solidFill>
                  <a:srgbClr val="000000"/>
                </a:solidFill>
                <a:latin typeface="Calibri" panose="020F0502020204030204" pitchFamily="34" charset="0"/>
                <a:cs typeface="Calibri" panose="020F0502020204030204" pitchFamily="34" charset="0"/>
              </a:rPr>
              <a:t>In terms of planning and evaluating the enrollments, using K-nearest neighbor would directly predict the enrollment of the cohort without identifying the  variation on the school district's levels. </a:t>
            </a:r>
          </a:p>
          <a:p>
            <a:pPr>
              <a:buFont typeface="Wingdings" panose="05000000000000000000" pitchFamily="2" charset="2"/>
              <a:buChar char="Ø"/>
            </a:pPr>
            <a:r>
              <a:rPr lang="en-US" sz="1800" dirty="0">
                <a:solidFill>
                  <a:srgbClr val="000000"/>
                </a:solidFill>
                <a:latin typeface="Calibri" panose="020F0502020204030204" pitchFamily="34" charset="0"/>
                <a:cs typeface="Calibri" panose="020F0502020204030204" pitchFamily="34" charset="0"/>
              </a:rPr>
              <a:t>For the research purpose, the institutional strategic planning would approach the enrollment by implement LR projection.</a:t>
            </a:r>
          </a:p>
        </p:txBody>
      </p:sp>
    </p:spTree>
    <p:extLst>
      <p:ext uri="{BB962C8B-B14F-4D97-AF65-F5344CB8AC3E}">
        <p14:creationId xmlns:p14="http://schemas.microsoft.com/office/powerpoint/2010/main" val="3636256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Question mark on green pastel background">
            <a:extLst>
              <a:ext uri="{FF2B5EF4-FFF2-40B4-BE49-F238E27FC236}">
                <a16:creationId xmlns:a16="http://schemas.microsoft.com/office/drawing/2014/main" id="{2315885C-DDE4-4C61-B3AA-6E2B533798C6}"/>
              </a:ext>
            </a:extLst>
          </p:cNvPr>
          <p:cNvPicPr>
            <a:picLocks noChangeAspect="1"/>
          </p:cNvPicPr>
          <p:nvPr/>
        </p:nvPicPr>
        <p:blipFill rotWithShape="1">
          <a:blip r:embed="rId2"/>
          <a:srcRect l="5200"/>
          <a:stretch/>
        </p:blipFill>
        <p:spPr>
          <a:xfrm>
            <a:off x="20" y="10"/>
            <a:ext cx="8668492" cy="6857990"/>
          </a:xfrm>
          <a:prstGeom prst="rect">
            <a:avLst/>
          </a:prstGeom>
        </p:spPr>
      </p:pic>
      <p:sp>
        <p:nvSpPr>
          <p:cNvPr id="10" name="Rectangle 9">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B1B4BCD-DB9F-4408-B77D-02FD3F089BCC}"/>
              </a:ext>
            </a:extLst>
          </p:cNvPr>
          <p:cNvSpPr>
            <a:spLocks noGrp="1"/>
          </p:cNvSpPr>
          <p:nvPr>
            <p:ph type="title"/>
          </p:nvPr>
        </p:nvSpPr>
        <p:spPr>
          <a:xfrm>
            <a:off x="7848600" y="1122363"/>
            <a:ext cx="4023360" cy="3204134"/>
          </a:xfrm>
        </p:spPr>
        <p:txBody>
          <a:bodyPr vert="horz" lIns="91440" tIns="45720" rIns="91440" bIns="45720" rtlCol="0" anchor="b">
            <a:normAutofit/>
          </a:bodyPr>
          <a:lstStyle/>
          <a:p>
            <a:r>
              <a:rPr lang="en-US" sz="4800" dirty="0"/>
              <a:t>Questions &amp; Answers</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1FDDA81-CDFA-4EF9-9500-CF8EAA6B0584}"/>
              </a:ext>
            </a:extLst>
          </p:cNvPr>
          <p:cNvSpPr txBox="1"/>
          <p:nvPr/>
        </p:nvSpPr>
        <p:spPr>
          <a:xfrm>
            <a:off x="7715670" y="4816613"/>
            <a:ext cx="4101981" cy="400110"/>
          </a:xfrm>
          <a:prstGeom prst="rect">
            <a:avLst/>
          </a:prstGeom>
          <a:noFill/>
        </p:spPr>
        <p:txBody>
          <a:bodyPr wrap="square" rtlCol="0">
            <a:spAutoFit/>
          </a:bodyPr>
          <a:lstStyle/>
          <a:p>
            <a:pPr algn="ctr"/>
            <a:r>
              <a:rPr lang="en-US" sz="2000" dirty="0"/>
              <a:t>yuzhang1@seattleschools.org</a:t>
            </a:r>
          </a:p>
        </p:txBody>
      </p:sp>
      <p:sp>
        <p:nvSpPr>
          <p:cNvPr id="9" name="Title 1">
            <a:extLst>
              <a:ext uri="{FF2B5EF4-FFF2-40B4-BE49-F238E27FC236}">
                <a16:creationId xmlns:a16="http://schemas.microsoft.com/office/drawing/2014/main" id="{C232C158-CA66-450C-98BC-2CBAA46053B9}"/>
              </a:ext>
            </a:extLst>
          </p:cNvPr>
          <p:cNvSpPr txBox="1">
            <a:spLocks/>
          </p:cNvSpPr>
          <p:nvPr/>
        </p:nvSpPr>
        <p:spPr>
          <a:xfrm>
            <a:off x="514339" y="1274763"/>
            <a:ext cx="4023360" cy="320413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Acknowledgement</a:t>
            </a:r>
          </a:p>
        </p:txBody>
      </p:sp>
      <p:sp>
        <p:nvSpPr>
          <p:cNvPr id="11" name="TextBox 10">
            <a:extLst>
              <a:ext uri="{FF2B5EF4-FFF2-40B4-BE49-F238E27FC236}">
                <a16:creationId xmlns:a16="http://schemas.microsoft.com/office/drawing/2014/main" id="{058C35FD-B471-4390-AF3A-43047CB79CC7}"/>
              </a:ext>
            </a:extLst>
          </p:cNvPr>
          <p:cNvSpPr txBox="1"/>
          <p:nvPr/>
        </p:nvSpPr>
        <p:spPr>
          <a:xfrm>
            <a:off x="562513" y="4517168"/>
            <a:ext cx="4101981" cy="1200329"/>
          </a:xfrm>
          <a:prstGeom prst="rect">
            <a:avLst/>
          </a:prstGeom>
          <a:noFill/>
        </p:spPr>
        <p:txBody>
          <a:bodyPr wrap="square" rtlCol="0">
            <a:spAutoFit/>
          </a:bodyPr>
          <a:lstStyle/>
          <a:p>
            <a:pPr algn="ctr"/>
            <a:r>
              <a:rPr lang="en-US" sz="2400" dirty="0"/>
              <a:t>General Assembly</a:t>
            </a:r>
          </a:p>
          <a:p>
            <a:pPr algn="ctr"/>
            <a:r>
              <a:rPr lang="en-US" sz="2400" dirty="0"/>
              <a:t>Data Scientist </a:t>
            </a:r>
          </a:p>
          <a:p>
            <a:pPr algn="ctr"/>
            <a:r>
              <a:rPr lang="en-US" sz="2400" dirty="0"/>
              <a:t>Part-time Course</a:t>
            </a:r>
          </a:p>
        </p:txBody>
      </p:sp>
      <p:cxnSp>
        <p:nvCxnSpPr>
          <p:cNvPr id="6" name="Straight Connector 5">
            <a:extLst>
              <a:ext uri="{FF2B5EF4-FFF2-40B4-BE49-F238E27FC236}">
                <a16:creationId xmlns:a16="http://schemas.microsoft.com/office/drawing/2014/main" id="{96F71C3B-51E2-4D23-8203-ECED7E2C8932}"/>
              </a:ext>
            </a:extLst>
          </p:cNvPr>
          <p:cNvCxnSpPr/>
          <p:nvPr/>
        </p:nvCxnSpPr>
        <p:spPr>
          <a:xfrm>
            <a:off x="514339" y="4478897"/>
            <a:ext cx="4130813" cy="0"/>
          </a:xfrm>
          <a:prstGeom prst="line">
            <a:avLst/>
          </a:prstGeom>
          <a:ln w="12700"/>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949947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954</TotalTime>
  <Words>844</Words>
  <Application>Microsoft Office PowerPoint</Application>
  <PresentationFormat>Widescreen</PresentationFormat>
  <Paragraphs>105</Paragraphs>
  <Slides>13</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Wingdings</vt:lpstr>
      <vt:lpstr>Office Theme</vt:lpstr>
      <vt:lpstr>Predicting the Students Enrollments Based on the Educational Financing</vt:lpstr>
      <vt:lpstr>Statement of the Problems</vt:lpstr>
      <vt:lpstr>Research Questions</vt:lpstr>
      <vt:lpstr>Metrics and Feature Description</vt:lpstr>
      <vt:lpstr>Education Financing Data Explorative Analysis</vt:lpstr>
      <vt:lpstr>Features Correlation</vt:lpstr>
      <vt:lpstr>Significant Predictors</vt:lpstr>
      <vt:lpstr>Performance Evaluation</vt:lpstr>
      <vt:lpstr>K Nearest Neighbors</vt:lpstr>
      <vt:lpstr>Comparison of LR and KNN</vt:lpstr>
      <vt:lpstr>Findings &amp; Implication</vt:lpstr>
      <vt:lpstr>Recommendation for Stakeholders</vt:lpstr>
      <vt:lpstr>Questions &amp; 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Zhang, Yu</dc:creator>
  <cp:lastModifiedBy>Yu Zhang</cp:lastModifiedBy>
  <cp:revision>224</cp:revision>
  <dcterms:created xsi:type="dcterms:W3CDTF">2021-02-14T02:01:22Z</dcterms:created>
  <dcterms:modified xsi:type="dcterms:W3CDTF">2021-02-17T04:10:17Z</dcterms:modified>
</cp:coreProperties>
</file>